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Notebook arc: what hardware can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9E4EA"/>
                </a:solidFill>
                <a:latin typeface="Calibri"/>
              </a:rPr>
              <a:t>Notebooks 03–09 simulate the trade-off with circuit-level noise in Selene and Stim. Three predictions come out of the arc; all three rest on numbers no device has supplied yet.</a:t>
            </a:r>
          </a:p>
        </p:txBody>
      </p:sp>
      <p:sp>
        <p:nvSpPr>
          <p:cNvPr id="4" name="Prediction 1"/>
          <p:cNvSpPr/>
          <p:nvPr/>
        </p:nvSpPr>
        <p:spPr>
          <a:xfrm>
            <a:off x="548640" y="237744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60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NOTEBOOK 08,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803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Premise holds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Through detection events the full circuit looks like the paper's model: p_read flat in Δt, p_data = p_data(1) ⊕ p_idle</a:t>
            </a:r>
          </a:p>
        </p:txBody>
      </p:sp>
      <p:sp>
        <p:nvSpPr>
          <p:cNvPr id="8" name="Prediction 2"/>
          <p:cNvSpPr/>
          <p:nvPr/>
        </p:nvSpPr>
        <p:spPr>
          <a:xfrm>
            <a:off x="4297679" y="237744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560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NOTEBOOK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8803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Δt* from one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3832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Within +17–21% (d=3), +4–9% (d=5), ±2% (d=7). The model's p_L, though, is underestimated as d grows</a:t>
            </a:r>
          </a:p>
        </p:txBody>
      </p:sp>
      <p:sp>
        <p:nvSpPr>
          <p:cNvPr id="12" name="Prediction 3"/>
          <p:cNvSpPr/>
          <p:nvPr/>
        </p:nvSpPr>
        <p:spPr>
          <a:xfrm>
            <a:off x="8046719" y="2377440"/>
            <a:ext cx="3566160" cy="224028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NOTEBOOK 07, 07b, 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8036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Back to back at 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At H2's estimated idle-to-gate ratio, waiting helps only at d=3, linear idle, by 11–16%</a:t>
            </a:r>
          </a:p>
        </p:txBody>
      </p:sp>
      <p:sp>
        <p:nvSpPr>
          <p:cNvPr id="16" name="Unmeasured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074920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Never measured on a device: </a:t>
            </a:r>
            <a:r>
              <a:rPr sz="1600" b="0" i="0">
                <a:solidFill>
                  <a:srgbClr val="C9E4EA"/>
                </a:solidFill>
                <a:latin typeface="Calibri"/>
              </a:rPr>
              <a:t>the idle rates γ (linear) and c (time²), how the time² term splits over time, whether idle error is Z only, and the round duration t_R.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Notebook arc on hardware  ·  qec-timing  ·  docs/notebook_arc_hardware_tests.md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F2937"/>
                </a:solidFill>
                <a:latin typeface="Cambria"/>
              </a:rPr>
              <a:t>Six parameter groups, four never measured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6809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03120"/>
                <a:gridCol w="27432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Current source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p1, p2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07–09 gate noise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H2-1E emulator sheet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p_meas (0→1, 1→0), p_init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07–09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H2-1E sheet, readout averaged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γ (linear idle)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07–09 idle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Assumed: q(1) ≈ 1.1·p2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c (time² idle) and its split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07–09 idle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Assumed; split unresolved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Idle X/Y part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07 assumes 0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Assumed: emulator's Z-only form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t_R, layers per round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08, 09 time grid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tat 1"/>
          <p:cNvSpPr/>
          <p:nvPr/>
        </p:nvSpPr>
        <p:spPr>
          <a:xfrm>
            <a:off x="8641080" y="1463040"/>
            <a:ext cx="2999232" cy="17830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0" y="164592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0E9AA7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25146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taken from a spec sheet</a:t>
            </a:r>
          </a:p>
        </p:txBody>
      </p:sp>
      <p:sp>
        <p:nvSpPr>
          <p:cNvPr id="7" name="Stat 2"/>
          <p:cNvSpPr/>
          <p:nvPr/>
        </p:nvSpPr>
        <p:spPr>
          <a:xfrm>
            <a:off x="8641080" y="3474720"/>
            <a:ext cx="2999232" cy="17830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36576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D98E2B"/>
                </a:solidFill>
                <a:latin typeface="Cambria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45262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assumed or unknown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The assumed rows decide every H2 statement in 07–09. Calibrating them is the point of the hardware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Notebook arc on hardware  ·  qec-timing  ·  docs/notebook_arc_hardware_tests.md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F2937"/>
                </a:solidFill>
                <a:latin typeface="Cambria"/>
              </a:rPr>
              <a:t>Blocker: no user-controlled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CHECKED 2026-10-12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Guppy 1.0.3 and 1.1.3: </a:t>
            </a:r>
            <a:r>
              <a:rPr sz="1500" b="0" i="0">
                <a:solidFill>
                  <a:srgbClr val="5B677A"/>
                </a:solidFill>
                <a:latin typeface="Calibri"/>
              </a:rPr>
              <a:t>no sleep or delay; only barrier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Helios op set (tket-exts 0.14.3): </a:t>
            </a:r>
            <a:r>
              <a:rPr sz="1500" b="0" i="0">
                <a:solidFill>
                  <a:srgbClr val="5B677A"/>
                </a:solidFill>
                <a:latin typeface="Calibri"/>
              </a:rPr>
              <a:t>RuntimeBarrier takes no duration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Selene experiment: </a:t>
            </a:r>
            <a:r>
              <a:rPr sz="1500" b="0" i="0">
                <a:solidFill>
                  <a:srgbClr val="5B677A"/>
                </a:solidFill>
                <a:latin typeface="Calibri"/>
              </a:rPr>
              <a:t>barriers are removed before execution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Helios docs: </a:t>
            </a:r>
            <a:r>
              <a:rPr sz="1500" b="0" i="0">
                <a:solidFill>
                  <a:srgbClr val="5B677A"/>
                </a:solidFill>
                <a:latin typeface="Calibri"/>
              </a:rPr>
              <a:t>"Runtime behavior is not specifiable by the user"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H2 / pytket-quantinuum 0.59.3: </a:t>
            </a:r>
            <a:r>
              <a:rPr sz="1500" b="0" i="0">
                <a:solidFill>
                  <a:srgbClr val="5B677A"/>
                </a:solidFill>
                <a:latin typeface="Calibri"/>
              </a:rPr>
              <a:t>no documented sleep found</a:t>
            </a:r>
          </a:p>
        </p:txBody>
      </p:sp>
      <p:sp>
        <p:nvSpPr>
          <p:cNvPr id="5" name="Fix 1"/>
          <p:cNvSpPr/>
          <p:nvPr/>
        </p:nvSpPr>
        <p:spPr>
          <a:xfrm>
            <a:off x="6309360" y="1371600"/>
            <a:ext cx="5330952" cy="14173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37960" y="16002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Ask Quantinuum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993392"/>
            <a:ext cx="4343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Delay on Helios or H2? An approved idle the compiler keeps? Does Nexus report duration?</a:t>
            </a:r>
          </a:p>
        </p:txBody>
      </p:sp>
      <p:sp>
        <p:nvSpPr>
          <p:cNvPr id="9" name="Fix 2"/>
          <p:cNvSpPr/>
          <p:nvPr/>
        </p:nvSpPr>
        <p:spPr>
          <a:xfrm>
            <a:off x="6309360" y="2971800"/>
            <a:ext cx="5330952" cy="14173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32004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2004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Spectator idling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93592"/>
            <a:ext cx="4343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Target waits while k gate layers run on other qubits, ordered by barriers. Waits come in layer units</a:t>
            </a:r>
          </a:p>
        </p:txBody>
      </p:sp>
      <p:sp>
        <p:nvSpPr>
          <p:cNvPr id="13" name="Fix 3"/>
          <p:cNvSpPr/>
          <p:nvPr/>
        </p:nvSpPr>
        <p:spPr>
          <a:xfrm>
            <a:off x="6309360" y="4572000"/>
            <a:ext cx="5330952" cy="14173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48006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8006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Hosted emulator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193792"/>
            <a:ext cx="4343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It models idling by duration; local Selene doesn't. Validate the fallback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Notebook arc on hardware  ·  qec-timing  ·  docs/notebook_arc_hardware_tests.md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F2937"/>
                </a:solidFill>
                <a:latin typeface="Cambria"/>
              </a:rPr>
              <a:t>Fourteen testable claims, grouped by cost</a:t>
            </a:r>
          </a:p>
        </p:txBody>
      </p:sp>
      <p:sp>
        <p:nvSpPr>
          <p:cNvPr id="3" name="Group 1"/>
          <p:cNvSpPr/>
          <p:nvPr/>
        </p:nvSpPr>
        <p:spPr>
          <a:xfrm>
            <a:off x="548640" y="1325880"/>
            <a:ext cx="5449824" cy="23317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08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No wait needed: run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54533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Low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T1  Readout flips only the record (03, 04d)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T2  Readout asymmetry 0→1 vs 1→0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T11  b_read ≈ 1 from gates alone (08, 09)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T13  CX compiles to 1 Rzz + 4 single-qubit gates (06a)</a:t>
            </a:r>
          </a:p>
        </p:txBody>
      </p:sp>
      <p:sp>
        <p:nvSpPr>
          <p:cNvPr id="7" name="Group 2"/>
          <p:cNvSpPr/>
          <p:nvPr/>
        </p:nvSpPr>
        <p:spPr>
          <a:xfrm>
            <a:off x="6190488" y="1325880"/>
            <a:ext cx="5449824" cy="23317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508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Single-qubit 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73767" y="154533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Low–medium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11680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T3  Idle error is Z only (07)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T4  Idle = linear γ + time² c (07)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T5  Does time² restart at gates? (09, open)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T6  H2 ratio q(1) ≈ 1.1·p2 (07 §7)</a:t>
            </a:r>
          </a:p>
        </p:txBody>
      </p:sp>
      <p:sp>
        <p:nvSpPr>
          <p:cNvPr id="11" name="Group 3"/>
          <p:cNvSpPr/>
          <p:nvPr/>
        </p:nvSpPr>
        <p:spPr>
          <a:xfrm>
            <a:off x="548640" y="3840480"/>
            <a:ext cx="5449824" cy="23317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Spectator and small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05993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Medium, ~10⁴ 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526280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T7  Idling during neighbours' measurement (08, 09)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T8  Only X-basis memory sees idle error (07)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T9, T10  p_read flat; p_data = p_data(1) ⊕ p_idle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T12  Full-model decoder beats hand-built graph (06b)</a:t>
            </a:r>
          </a:p>
        </p:txBody>
      </p:sp>
      <p:sp>
        <p:nvSpPr>
          <p:cNvPr id="15" name="Group 4"/>
          <p:cNvSpPr/>
          <p:nvPr/>
        </p:nvSpPr>
        <p:spPr>
          <a:xfrm>
            <a:off x="6190488" y="3840480"/>
            <a:ext cx="5449824" cy="23317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4023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Expensive: 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3767" y="405993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D98E2B"/>
                </a:solidFill>
                <a:latin typeface="Calibri"/>
              </a:rPr>
              <a:t>High, 10⁵+ per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526280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T14  Back to back best at H2; Δt* from one calibration (07 §7b, 09)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Predicted effect only 11–16% at d=3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Notebook arc on hardware  ·  qec-timing  ·  docs/notebook_arc_hardware_tests.md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Order of work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258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Settle the delay question; get t_R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Blocks T3–T10 and T14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No-wait tests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T1, T2, T11, T13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Single-qubit idle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T3 → T4 → T5, giving T6. Decides the H2 conclusions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832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Spectator idle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T7: measurement crosstalk no notebook models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d=3 detection events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T8 → T9, T10; T12 offline on the same shots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548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Conformance ladder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Feed the calibrated parameters to each model, compare edges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8640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4068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Then decide on T14</a:t>
            </a:r>
            <a:r>
              <a:rPr sz="1400" b="0" i="0">
                <a:solidFill>
                  <a:srgbClr val="C9E4EA"/>
                </a:solidFill>
                <a:latin typeface="Calibri"/>
              </a:rPr>
              <a:t>   Δt* and U depth in Stim first; spend p_L shots only if it pays</a:t>
            </a:r>
          </a:p>
        </p:txBody>
      </p:sp>
      <p:sp>
        <p:nvSpPr>
          <p:cNvPr id="17" name="Ladder"/>
          <p:cNvSpPr/>
          <p:nvPr/>
        </p:nvSpPr>
        <p:spPr>
          <a:xfrm>
            <a:off x="7406640" y="1325880"/>
            <a:ext cx="4233672" cy="470916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508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STEP 5: CONFORMANCE LADDER</a:t>
            </a:r>
          </a:p>
        </p:txBody>
      </p:sp>
      <p:sp>
        <p:nvSpPr>
          <p:cNvPr id="19" name="Rung 07"/>
          <p:cNvSpPr/>
          <p:nvPr/>
        </p:nvSpPr>
        <p:spPr>
          <a:xfrm>
            <a:off x="7680960" y="196596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96596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6596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Textbook gates, idle on data only</a:t>
            </a:r>
          </a:p>
        </p:txBody>
      </p:sp>
      <p:sp>
        <p:nvSpPr>
          <p:cNvPr id="22" name="Rung 07b"/>
          <p:cNvSpPr/>
          <p:nvPr/>
        </p:nvSpPr>
        <p:spPr>
          <a:xfrm>
            <a:off x="7680960" y="2834639"/>
            <a:ext cx="822960" cy="548640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834639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34639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+ native gates</a:t>
            </a:r>
          </a:p>
        </p:txBody>
      </p:sp>
      <p:sp>
        <p:nvSpPr>
          <p:cNvPr id="25" name="Rung 08"/>
          <p:cNvSpPr/>
          <p:nvPr/>
        </p:nvSpPr>
        <p:spPr>
          <a:xfrm>
            <a:off x="7680960" y="370332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370332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0332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+ uniform noise on every qubit</a:t>
            </a:r>
          </a:p>
        </p:txBody>
      </p:sp>
      <p:sp>
        <p:nvSpPr>
          <p:cNvPr id="28" name="Rung 09"/>
          <p:cNvSpPr/>
          <p:nvPr/>
        </p:nvSpPr>
        <p:spPr>
          <a:xfrm>
            <a:off x="7680960" y="457200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4572000"/>
            <a:ext cx="822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72000"/>
            <a:ext cx="2743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native + uniform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440680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First rung that matches T9–T10 is sufficient.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Notebook arc on hardware  ·  qec-timing  ·  docs/notebook_arc_hardware_tests.md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