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F2937"/>
                </a:solidFill>
                <a:latin typeface="Calibri"/>
              </a:rPr>
              <a:t>Right side of the U: R(n=3) / R_min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Uncompensated</c:v>
                </c:pt>
              </c:strCache>
            </c:strRef>
          </c:tx>
          <c:spPr>
            <a:ln w="31750">
              <a:solidFill>
                <a:srgbClr val="D98E2B"/>
              </a:solidFill>
            </a:ln>
          </c:spPr>
          <c:marker>
            <c:symbol val="circle"/>
            <c:size val="9"/>
            <c:spPr>
              <a:solidFill>
                <a:srgbClr val="D98E2B"/>
              </a:solidFill>
              <a:ln>
                <a:solidFill>
                  <a:srgbClr val="D98E2B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0.07 (H2)</c:v>
                </c:pt>
                <c:pt idx="2">
                  <c:v>0.14</c:v>
                </c:pt>
                <c:pt idx="3">
                  <c:v>0.28</c:v>
                </c:pt>
                <c:pt idx="4">
                  <c:v>0.56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1.35</c:v>
                </c:pt>
                <c:pt idx="1">
                  <c:v>1.23</c:v>
                </c:pt>
                <c:pt idx="2">
                  <c:v>1.15</c:v>
                </c:pt>
                <c:pt idx="3">
                  <c:v>1.07</c:v>
                </c:pt>
                <c:pt idx="4">
                  <c:v>1.01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Compensated</c:v>
                </c:pt>
              </c:strCache>
            </c:strRef>
          </c:tx>
          <c:spPr>
            <a:ln w="31750">
              <a:solidFill>
                <a:srgbClr val="0E9AA7"/>
              </a:solidFill>
            </a:ln>
          </c:spPr>
          <c:marker>
            <c:symbol val="circle"/>
            <c:size val="9"/>
            <c:spPr>
              <a:solidFill>
                <a:srgbClr val="0E9AA7"/>
              </a:solidFill>
              <a:ln>
                <a:solidFill>
                  <a:srgbClr val="0E9AA7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0.07 (H2)</c:v>
                </c:pt>
                <c:pt idx="2">
                  <c:v>0.14</c:v>
                </c:pt>
                <c:pt idx="3">
                  <c:v>0.28</c:v>
                </c:pt>
                <c:pt idx="4">
                  <c:v>0.56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1.35</c:v>
                </c:pt>
                <c:pt idx="1">
                  <c:v>1.29</c:v>
                </c:pt>
                <c:pt idx="2">
                  <c:v>1.27</c:v>
                </c:pt>
                <c:pt idx="3">
                  <c:v>1.22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5B677A"/>
                    </a:solidFill>
                    <a:latin typeface="Calibri"/>
                  </a:rPr>
                  <a:t>gate error ratio p2 / p_inj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B8C2CE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4"/>
          <c:min val="1.0"/>
        </c:scaling>
        <c:delete val="0"/>
        <c:axPos val="l"/>
        <c:majorGridlines>
          <c:spPr>
            <a:ln>
              <a:solidFill>
                <a:srgbClr val="DDE3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B677A"/>
                    </a:solidFill>
                    <a:latin typeface="Calibri"/>
                  </a:rPr>
                  <a:t>R(n=3) / R_min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5B677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1F2937"/>
                </a:solidFill>
                <a:latin typeface="Calibri"/>
              </a:rPr>
              <a:t>d = 5 production grid: R / R_min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 = 5</c:v>
                </c:pt>
              </c:strCache>
            </c:strRef>
          </c:tx>
          <c:spPr>
            <a:ln w="31750">
              <a:solidFill>
                <a:srgbClr val="0E9AA7"/>
              </a:solidFill>
            </a:ln>
          </c:spPr>
          <c:marker>
            <c:symbol val="circle"/>
            <c:size val="9"/>
            <c:spPr>
              <a:solidFill>
                <a:srgbClr val="0E9AA7"/>
              </a:solidFill>
              <a:ln>
                <a:solidFill>
                  <a:srgbClr val="0E9AA7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0.33 (30)</c:v>
                </c:pt>
                <c:pt idx="1">
                  <c:v>0.71 (14)</c:v>
                </c:pt>
                <c:pt idx="2">
                  <c:v>1.00 (10)</c:v>
                </c:pt>
                <c:pt idx="3">
                  <c:v>1.43 (7)</c:v>
                </c:pt>
                <c:pt idx="4">
                  <c:v>2.50 (4)</c:v>
                </c:pt>
                <c:pt idx="5">
                  <c:v>3.33 (3)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1.29</c:v>
                </c:pt>
                <c:pt idx="1">
                  <c:v>1.01</c:v>
                </c:pt>
                <c:pt idx="2">
                  <c:v>1.0</c:v>
                </c:pt>
                <c:pt idx="3">
                  <c:v>1.02</c:v>
                </c:pt>
                <c:pt idx="4">
                  <c:v>1.2</c:v>
                </c:pt>
                <c:pt idx="5">
                  <c:v>1.34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sz="1100">
                  <a:solidFill>
                    <a:srgbClr val="1F2937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5B677A"/>
                    </a:solidFill>
                    <a:latin typeface="Calibri"/>
                  </a:rPr>
                  <a:t>Δt  (rounds n = T/Δt)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B8C2CE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4"/>
          <c:min val="0.9"/>
        </c:scaling>
        <c:delete val="0"/>
        <c:axPos val="l"/>
        <c:majorGridlines>
          <c:spPr>
            <a:ln>
              <a:solidFill>
                <a:srgbClr val="DDE3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B677A"/>
                    </a:solidFill>
                    <a:latin typeface="Calibri"/>
                  </a:rPr>
                  <a:t>R / R_min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>
          <a:solidFill>
            <a:srgbClr val="5B677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Stub to device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C9E4EA"/>
                </a:solidFill>
                <a:latin typeface="Calibri"/>
              </a:rPr>
              <a:t>Running the stub's injected-noise surface-code memory on Quantinuum hardware.</a:t>
            </a:r>
          </a:p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Premise: </a:t>
            </a:r>
            <a:r>
              <a:rPr sz="1800" b="0" i="0">
                <a:solidFill>
                  <a:srgbClr val="C9E4EA"/>
                </a:solidFill>
                <a:latin typeface="Calibri"/>
              </a:rPr>
              <a:t>ideal gates, X noise only, memory in |0_L⟩, Z-checks only. All noise is injected by one in-program RNG.</a:t>
            </a:r>
          </a:p>
        </p:txBody>
      </p:sp>
      <p:sp>
        <p:nvSpPr>
          <p:cNvPr id="4" name="Equation Idle"/>
          <p:cNvSpPr/>
          <p:nvPr/>
        </p:nvSpPr>
        <p:spPr>
          <a:xfrm>
            <a:off x="548640" y="251460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22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6974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E9AA7"/>
                </a:solidFill>
                <a:latin typeface="Calibri"/>
              </a:rPr>
              <a:t>IDLE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0632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p_idle = 1 − exp(−p·λ·Δt)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61188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C9E4EA"/>
                </a:solidFill>
                <a:latin typeface="Calibri"/>
              </a:rPr>
              <a:t>Grows with the wait between rounds</a:t>
            </a:r>
          </a:p>
        </p:txBody>
      </p:sp>
      <p:sp>
        <p:nvSpPr>
          <p:cNvPr id="8" name="Equation Per round"/>
          <p:cNvSpPr/>
          <p:nvPr/>
        </p:nvSpPr>
        <p:spPr>
          <a:xfrm>
            <a:off x="4297679" y="251460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22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1999" y="26974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E9AA7"/>
                </a:solidFill>
                <a:latin typeface="Calibri"/>
              </a:rPr>
              <a:t>PER 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9" y="30632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p_data = 1 − (1−p)(1−p_idle)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361188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C9E4EA"/>
                </a:solidFill>
                <a:latin typeface="Calibri"/>
              </a:rPr>
              <a:t>One X draw per data qubit, before extraction</a:t>
            </a:r>
          </a:p>
        </p:txBody>
      </p:sp>
      <p:sp>
        <p:nvSpPr>
          <p:cNvPr id="12" name="Equation Readout"/>
          <p:cNvSpPr/>
          <p:nvPr/>
        </p:nvSpPr>
        <p:spPr>
          <a:xfrm>
            <a:off x="8046719" y="251460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22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6974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E9AA7"/>
                </a:solidFill>
                <a:latin typeface="Calibri"/>
              </a:rPr>
              <a:t>READOUT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0632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p_read = b_read · 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61188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C9E4EA"/>
                </a:solidFill>
                <a:latin typeface="Calibri"/>
              </a:rPr>
              <a:t>Flips the record only: ancillas and final data</a:t>
            </a:r>
          </a:p>
        </p:txBody>
      </p:sp>
      <p:sp>
        <p:nvSpPr>
          <p:cNvPr id="16" name="Can show"/>
          <p:cNvSpPr/>
          <p:nvPr/>
        </p:nvSpPr>
        <p:spPr>
          <a:xfrm>
            <a:off x="548640" y="4526280"/>
            <a:ext cx="5486400" cy="1280160"/>
          </a:xfrm>
          <a:prstGeom prst="roundRect">
            <a:avLst>
              <a:gd name="adj" fmla="val 8000"/>
            </a:avLst>
          </a:prstGeom>
          <a:solidFill>
            <a:srgbClr val="22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4754880"/>
            <a:ext cx="457200" cy="457200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754880"/>
            <a:ext cx="4389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Can show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E4EA"/>
                </a:solidFill>
                <a:latin typeface="Calibri"/>
              </a:rPr>
              <a:t>The injected Δt trade-off reproduced on a device, on top of a Δt-independent background.</a:t>
            </a:r>
          </a:p>
        </p:txBody>
      </p:sp>
      <p:sp>
        <p:nvSpPr>
          <p:cNvPr id="19" name="Cannot show"/>
          <p:cNvSpPr/>
          <p:nvPr/>
        </p:nvSpPr>
        <p:spPr>
          <a:xfrm>
            <a:off x="6153912" y="4526280"/>
            <a:ext cx="5486400" cy="1280160"/>
          </a:xfrm>
          <a:prstGeom prst="roundRect">
            <a:avLst>
              <a:gd name="adj" fmla="val 8000"/>
            </a:avLst>
          </a:prstGeom>
          <a:solidFill>
            <a:srgbClr val="22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8232" y="4754880"/>
            <a:ext cx="457200" cy="457200"/>
          </a:xfrm>
          <a:prstGeom prst="ellipse">
            <a:avLst/>
          </a:prstGeom>
          <a:solidFill>
            <a:srgbClr val="D9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68312" y="4754880"/>
            <a:ext cx="4389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Cannot show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E4EA"/>
                </a:solidFill>
                <a:latin typeface="Calibri"/>
              </a:rPr>
              <a:t>The device's own idle trade-off: Δt only changes a probability, the program never waits.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C9E4EA"/>
                </a:solidFill>
                <a:latin typeface="Calibri"/>
              </a:rPr>
              <a:t>Stub to device  ·  qec-timing  ·  docs/stub_to_device.md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C9E4EA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1F2937"/>
                </a:solidFill>
                <a:latin typeface="Cambria"/>
              </a:rPr>
              <a:t>What changes from emulator to device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91672" cy="4608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389120"/>
                <a:gridCol w="4873752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Stub today (Selene, Stim backend)</a:t>
                      </a:r>
                    </a:p>
                  </a:txBody>
                  <a:tcPr marL="91440" marR="91440" marT="45720" marB="45720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Hardware version</a:t>
                      </a:r>
                    </a:p>
                  </a:txBody>
                  <a:tcPr marL="91440" marR="91440" marT="45720" marB="45720" anchor="ctr">
                    <a:solidFill>
                      <a:srgbClr val="14213D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Circuit</a:t>
                      </a:r>
                    </a:p>
                  </a:txBody>
                  <a:tcPr marL="91440" marR="91440" marT="45720" marB="4572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1 ancilla, reused: checks run one after another</a:t>
                      </a:r>
                    </a:p>
                  </a:txBody>
                  <a:tcPr marL="91440" marR="91440" marT="45720" marB="4572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1 ancilla per Z-check, CX in 4 layers, data → ancilla</a:t>
                      </a:r>
                    </a:p>
                  </a:txBody>
                  <a:tcPr marL="91440" marR="91440" marT="45720" marB="45720" anchor="ctr">
                    <a:solidFill>
                      <a:srgbClr val="EEF3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Parameters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p_data, p_read, n_rounds passed to run()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Fixed at compile time: one program per sweep point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Native gates</a:t>
                      </a:r>
                    </a:p>
                  </a:txBody>
                  <a:tcPr marL="91440" marR="91440" marT="45720" marB="4572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CX → 1 Rzz + 4 single-qubit gates, noiseless</a:t>
                      </a:r>
                    </a:p>
                  </a:txBody>
                  <a:tcPr marL="91440" marR="91440" marT="45720" marB="4572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Same gates, now a real noise source</a:t>
                      </a:r>
                    </a:p>
                  </a:txBody>
                  <a:tcPr marL="91440" marR="91440" marT="45720" marB="45720" anchor="ctr">
                    <a:solidFill>
                      <a:srgbClr val="EEF3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Randomness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RNG(base_seed + shot), verified in Selene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Unverified on hardware: test before anything else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Decoding</a:t>
                      </a:r>
                    </a:p>
                  </a:txBody>
                  <a:tcPr marL="91440" marR="91440" marT="45720" marB="4572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Weights from injected p_data, p_read</a:t>
                      </a:r>
                    </a:p>
                  </a:txBody>
                  <a:tcPr marL="91440" marR="91440" marT="45720" marB="4572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Weights = injected + measured background; same detector order; leaked shots flagged</a:t>
                      </a:r>
                    </a:p>
                  </a:txBody>
                  <a:tcPr marL="91440" marR="91440" marT="45720" marB="45720" anchor="ctr">
                    <a:solidFill>
                      <a:srgbClr val="EEF3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Execution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emulator.run(), read with collate_tags()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Nexus submission, plus an adapter to the same reader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77A"/>
                </a:solidFill>
                <a:latin typeface="Calibri"/>
              </a:rPr>
              <a:t>Stub to device  ·  qec-timing  ·  docs/stub_to_device.md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77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1F2937"/>
                </a:solidFill>
                <a:latin typeface="Cambria"/>
              </a:rPr>
              <a:t>Injected noise is not the only noise</a:t>
            </a:r>
          </a:p>
        </p:txBody>
      </p:sp>
      <p:sp>
        <p:nvSpPr>
          <p:cNvPr id="3" name="Quirk Non-uniform"/>
          <p:cNvSpPr/>
          <p:nvPr/>
        </p:nvSpPr>
        <p:spPr>
          <a:xfrm>
            <a:off x="548640" y="1417320"/>
            <a:ext cx="2606040" cy="150876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1645920"/>
            <a:ext cx="384048" cy="384048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6420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Non-uniform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77A"/>
                </a:solidFill>
                <a:latin typeface="Calibri"/>
              </a:rPr>
              <a:t>Data qubits get 1 or 2 CX per round; the model has one p_stab</a:t>
            </a:r>
          </a:p>
        </p:txBody>
      </p:sp>
      <p:sp>
        <p:nvSpPr>
          <p:cNvPr id="7" name="Quirk Split"/>
          <p:cNvSpPr/>
          <p:nvPr/>
        </p:nvSpPr>
        <p:spPr>
          <a:xfrm>
            <a:off x="3337560" y="1417320"/>
            <a:ext cx="2606040" cy="150876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566160" y="1645920"/>
            <a:ext cx="384048" cy="384048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66420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Split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14884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77A"/>
                </a:solidFill>
                <a:latin typeface="Calibri"/>
              </a:rPr>
              <a:t>Gate errors on data act as p_stab; on ancillas, as extra p_read</a:t>
            </a:r>
          </a:p>
        </p:txBody>
      </p:sp>
      <p:sp>
        <p:nvSpPr>
          <p:cNvPr id="11" name="Quirk Partial"/>
          <p:cNvSpPr/>
          <p:nvPr/>
        </p:nvSpPr>
        <p:spPr>
          <a:xfrm>
            <a:off x="548640" y="3108960"/>
            <a:ext cx="2606040" cy="150876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3337560"/>
            <a:ext cx="384048" cy="384048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35584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Partial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404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77A"/>
                </a:solidFill>
                <a:latin typeface="Calibri"/>
              </a:rPr>
              <a:t>Only the X/Y parts flip data in a Z-basis memory</a:t>
            </a:r>
          </a:p>
        </p:txBody>
      </p:sp>
      <p:sp>
        <p:nvSpPr>
          <p:cNvPr id="15" name="Quirk Correlated"/>
          <p:cNvSpPr/>
          <p:nvPr/>
        </p:nvSpPr>
        <p:spPr>
          <a:xfrm>
            <a:off x="3337560" y="3108960"/>
            <a:ext cx="2606040" cy="1508760"/>
          </a:xfrm>
          <a:prstGeom prst="roundRect">
            <a:avLst>
              <a:gd name="adj" fmla="val 8000"/>
            </a:avLst>
          </a:prstGeom>
          <a:solidFill>
            <a:srgbClr val="EE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66160" y="3337560"/>
            <a:ext cx="384048" cy="384048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335584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Correlated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840480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B677A"/>
                </a:solidFill>
                <a:latin typeface="Calibri"/>
              </a:rPr>
              <a:t>One Rzz fault can hit a data qubit and its ancilla together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892040"/>
            <a:ext cx="5394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0E9AA7"/>
                </a:solidFill>
                <a:latin typeface="Calibri"/>
              </a:rPr>
              <a:t>Fix: compensate.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Measure the background with zero injection, then lower the injected p_stab and p_read so the totals hit the target.</a:t>
            </a:r>
          </a:p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Δt is still not physical time: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every round lasts the same on the device.</a:t>
            </a:r>
          </a:p>
        </p:txBody>
      </p:sp>
      <p:graphicFrame>
        <p:nvGraphicFramePr>
          <p:cNvPr id="20" name="Contrast vs gate error"/>
          <p:cNvGraphicFramePr>
            <a:graphicFrameLocks noGrp="1"/>
          </p:cNvGraphicFramePr>
          <p:nvPr/>
        </p:nvGraphicFramePr>
        <p:xfrm>
          <a:off x="6309360" y="1325880"/>
          <a:ext cx="534924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309360" y="5394960"/>
            <a:ext cx="5349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77A"/>
                </a:solidFill>
                <a:latin typeface="Calibri"/>
              </a:rPr>
              <a:t>Stim model, d=5, T=10, p=0.015. Feasible: p2/p_inj ≲ 0.36 compensated, ≲ 0.15 uncompensated. At 0.56, compensation is impossible (background readout &gt; p_read).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77A"/>
                </a:solidFill>
                <a:latin typeface="Calibri"/>
              </a:rPr>
              <a:t>Stub to device  ·  qec-timing  ·  docs/stub_to_device.md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77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1F2937"/>
                </a:solidFill>
                <a:latin typeface="Cambria"/>
              </a:rPr>
              <a:t>Specification: rotated code, d = 3 and 5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53949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371600"/>
                <a:gridCol w="13716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Per round</a:t>
                      </a:r>
                    </a:p>
                  </a:txBody>
                  <a:tcPr marL="91440" marR="91440" marT="45720" marB="45720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 = 3</a:t>
                      </a:r>
                    </a:p>
                  </a:txBody>
                  <a:tcPr marL="91440" marR="91440" marT="45720" marB="45720"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 = 5</a:t>
                      </a:r>
                    </a:p>
                  </a:txBody>
                  <a:tcPr marL="91440" marR="91440" marT="45720" marB="45720" anchor="ctr"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Qubits, (3d² − 1)/2</a:t>
                      </a:r>
                    </a:p>
                  </a:txBody>
                  <a:tcPr marL="91440" marR="91440" marT="45720" marB="4572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91440" marR="91440" marT="45720" marB="45720" anchor="ctr">
                    <a:solidFill>
                      <a:srgbClr val="EEF3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Rzz, 2d(d − 1)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Ancilla measurements</a:t>
                      </a:r>
                    </a:p>
                  </a:txBody>
                  <a:tcPr marL="91440" marR="91440" marT="45720" marB="4572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EEF3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RNG draws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Δt* (reference)</a:t>
                      </a:r>
                    </a:p>
                  </a:txBody>
                  <a:tcPr marL="91440" marR="91440" marT="45720" marB="4572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≈ 2</a:t>
                      </a:r>
                    </a:p>
                  </a:txBody>
                  <a:tcPr marL="91440" marR="91440" marT="45720" marB="45720" anchor="ctr">
                    <a:solidFill>
                      <a:srgbClr val="EE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≈ 1</a:t>
                      </a:r>
                    </a:p>
                  </a:txBody>
                  <a:tcPr marL="91440" marR="91440" marT="45720" marB="45720" anchor="ctr">
                    <a:solidFill>
                      <a:srgbClr val="EEF3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Smoke test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Experiment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66344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77A"/>
                </a:solidFill>
                <a:latin typeface="Calibri"/>
              </a:rPr>
              <a:t>Plus d² final data measurements. Both fit H2 (56 qubits); d=7 needs 73.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6636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E9AA7"/>
                </a:solidFill>
                <a:latin typeface="Cambria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0644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77A"/>
                </a:solidFill>
                <a:latin typeface="Calibri"/>
              </a:rPr>
              <a:t>total time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516636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E9AA7"/>
                </a:solidFill>
                <a:latin typeface="Cambria"/>
              </a:rPr>
              <a:t>~20k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580644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77A"/>
                </a:solidFill>
                <a:latin typeface="Calibri"/>
              </a:rPr>
              <a:t>shots, d=5 grid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5166360"/>
            <a:ext cx="1737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E9AA7"/>
                </a:solidFill>
                <a:latin typeface="Cambria"/>
              </a:rPr>
              <a:t>~9×10⁶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580644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77A"/>
                </a:solidFill>
                <a:latin typeface="Calibri"/>
              </a:rPr>
              <a:t>Rzz in total</a:t>
            </a:r>
          </a:p>
        </p:txBody>
      </p:sp>
      <p:graphicFrame>
        <p:nvGraphicFramePr>
          <p:cNvPr id="11" name="d5 grid"/>
          <p:cNvGraphicFramePr>
            <a:graphicFrameLocks noGrp="1"/>
          </p:cNvGraphicFramePr>
          <p:nvPr/>
        </p:nvGraphicFramePr>
        <p:xfrm>
          <a:off x="6309360" y="1325880"/>
          <a:ext cx="53492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309360" y="5486400"/>
            <a:ext cx="5349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B677A"/>
                </a:solidFill>
                <a:latin typeface="Calibri"/>
              </a:rPr>
              <a:t>Reference path, injected noise only. ~3,000–3,600 shots per point for ±5% on R. The ends carry the U; the bottom is flat within 2%.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B677A"/>
                </a:solidFill>
                <a:latin typeface="Calibri"/>
              </a:rPr>
              <a:t>Stub to device  ·  qec-timing  ·  docs/stub_to_device.md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5B677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What to run, and with which values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417320"/>
            <a:ext cx="438912" cy="438912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371600"/>
            <a:ext cx="5760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RNG check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C9E4EA"/>
                </a:solidFill>
                <a:latin typeface="Calibri"/>
              </a:rPr>
              <a:t>Tiny job: random_float() and shot number per shot. Must vary.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221991"/>
            <a:ext cx="438912" cy="438912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76272"/>
            <a:ext cx="5760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Pre-hardware sim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C9E4EA"/>
                </a:solidFill>
                <a:latin typeface="Calibri"/>
              </a:rPr>
              <a:t>Selene DepolarizingErrorModel at p2 = 1.05×10⁻³, p_meas ≈ 10⁻³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026663"/>
            <a:ext cx="438912" cy="438912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80944"/>
            <a:ext cx="5760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Background calibration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C9E4EA"/>
                </a:solidFill>
                <a:latin typeface="Calibri"/>
              </a:rPr>
              <a:t>Zero injection, d = 5, a few round counts → p_stab_bg, p_read_bg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831336"/>
            <a:ext cx="438912" cy="438912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85616"/>
            <a:ext cx="5760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Reference rescan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C9E4EA"/>
                </a:solidFill>
                <a:latin typeface="Calibri"/>
              </a:rPr>
              <a:t>Totals held at target; re-pick the grid if Δt* moved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636007"/>
            <a:ext cx="438912" cy="438912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590288"/>
            <a:ext cx="5760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d = 3 smoke test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C9E4EA"/>
                </a:solidFill>
                <a:latin typeface="Calibri"/>
              </a:rPr>
              <a:t>A few points, end to end: submit, read, decode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440680"/>
            <a:ext cx="438912" cy="438912"/>
          </a:xfrm>
          <a:prstGeom prst="ellipse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394960"/>
            <a:ext cx="5760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d = 5 production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C9E4EA"/>
                </a:solidFill>
                <a:latin typeface="Calibri"/>
              </a:rPr>
              <a:t>n = 30, 14, 10, 7, 4, 3 at ~3,000 shots each</a:t>
            </a:r>
          </a:p>
        </p:txBody>
      </p:sp>
      <p:sp>
        <p:nvSpPr>
          <p:cNvPr id="15" name="Run values"/>
          <p:cNvSpPr/>
          <p:nvPr/>
        </p:nvSpPr>
        <p:spPr>
          <a:xfrm>
            <a:off x="7315200" y="1371600"/>
            <a:ext cx="4325112" cy="3749039"/>
          </a:xfrm>
          <a:prstGeom prst="roundRect">
            <a:avLst>
              <a:gd name="adj" fmla="val 8000"/>
            </a:avLst>
          </a:prstGeom>
          <a:solidFill>
            <a:srgbClr val="22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160020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E9AA7"/>
                </a:solidFill>
                <a:latin typeface="Calibri"/>
              </a:rPr>
              <a:t>RUN VALUES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2011680"/>
            <a:ext cx="3749039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 = 0.015,  λ = 1,  b_read = 1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 = 10,  Δt = 10 / n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C9E4EA"/>
                </a:solidFill>
                <a:latin typeface="Calibri"/>
              </a:rPr>
              <a:t>Keep p2 / p_inj ≤ 0.36 (≤ 0.15 if uncompensated). H2 sits at 0.07.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C9E4EA"/>
                </a:solidFill>
                <a:latin typeface="Calibri"/>
              </a:rPr>
              <a:t>Don't lower p_inj below ~3×10⁻³ at H2's gate error.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C9E4EA"/>
                </a:solidFill>
                <a:latin typeface="Calibri"/>
              </a:rPr>
              <a:t>Pinning Δt* (not just showing the U) needs ~4× shots on the middle points.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C9E4EA"/>
                </a:solidFill>
                <a:latin typeface="Calibri"/>
              </a:rPr>
              <a:t>Stub to device  ·  qec-timing  ·  docs/stub_to_device.md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C9E4E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