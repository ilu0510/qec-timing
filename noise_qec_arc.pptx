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8"/>
    <p:sldId id="263" r:id="rId9"/>
    <p:sldId id="272" r:id="rId23"/>
    <p:sldId id="264" r:id="rId10"/>
    <p:sldId id="273" r:id="rId24"/>
    <p:sldId id="274" r:id="rId25"/>
    <p:sldId id="275" r:id="rId26"/>
    <p:sldId id="278" r:id="rId29"/>
    <p:sldId id="276" r:id="rId27"/>
    <p:sldId id="279" r:id="rId30"/>
    <p:sldId id="277" r:id="rId28"/>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12B"/>
                </a:solidFill>
                <a:latin typeface="Calibri"/>
              </a:defRPr>
            </a:pPr>
            <a:r>
              <a:rPr sz="1300" b="0" i="0" u="none" strike="noStrike">
                <a:solidFill>
                  <a:srgbClr val="17212B"/>
                </a:solidFill>
                <a:latin typeface="Calibri"/>
              </a:rPr>
              <a:t>Z-basis flip rate vs idle ops, p = 0.02</a:t>
            </a:r>
          </a:p>
        </c:rich>
      </c:tx>
      <c:layout/>
      <c:overlay val="0"/>
    </c:title>
    <c:autoTitleDeleted val="0"/>
    <c:plotArea>
      <c:layout/>
      <c:lineChart>
        <c:varyColors val="0"/>
        <c:ser>
          <c:idx val="0"/>
          <c:order val="0"/>
          <c:tx>
            <c:strRef>
              <c:f>Sheet1!$B$1</c:f>
              <c:strCache>
                <c:ptCount val="1"/>
                <c:pt idx="0">
                  <c:v>Selene p_1q</c:v>
                </c:pt>
              </c:strCache>
            </c:strRef>
          </c:tx>
          <c:spPr>
            <a:solidFill>
              <a:srgbClr val="E8692F"/>
            </a:solidFill>
            <a:ln w="25400" cap="flat">
              <a:solidFill>
                <a:srgbClr val="E869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692F"/>
              </a:solidFill>
              <a:ln w="9525" cap="flat">
                <a:solidFill>
                  <a:srgbClr val="E8692F"/>
                </a:solidFill>
                <a:prstDash val="solid"/>
                <a:round/>
              </a:ln>
              <a:effectLst/>
            </c:spPr>
          </c:marker>
          <c:cat>
            <c:multiLvlStrRef>
              <c:f>Sheet1!$A$2:$A$8</c:f>
              <c:multiLvlStrCache>
                <c:ptCount val="7"/>
                <c:lvl>
                  <c:pt idx="0">
                    <c:v>0</c:v>
                  </c:pt>
                  <c:pt idx="1">
                    <c:v>1</c:v>
                  </c:pt>
                  <c:pt idx="2">
                    <c:v>2</c:v>
                  </c:pt>
                  <c:pt idx="3">
                    <c:v>5</c:v>
                  </c:pt>
                  <c:pt idx="4">
                    <c:v>10</c:v>
                  </c:pt>
                  <c:pt idx="5">
                    <c:v>20</c:v>
                  </c:pt>
                  <c:pt idx="6">
                    <c:v>40</c:v>
                  </c:pt>
                </c:lvl>
              </c:multiLvlStrCache>
            </c:multiLvlStrRef>
          </c:cat>
          <c:val>
            <c:numRef>
              <c:f>Sheet1!$B$2:$B$8</c:f>
              <c:numCache>
                <c:formatCode>General</c:formatCode>
                <c:ptCount val="7"/>
                <c:pt idx="0">
                  <c:v>0</c:v>
                </c:pt>
                <c:pt idx="1">
                  <c:v>0.0124</c:v>
                </c:pt>
                <c:pt idx="2">
                  <c:v>0.0258</c:v>
                </c:pt>
                <c:pt idx="3">
                  <c:v>0.0611</c:v>
                </c:pt>
                <c:pt idx="4">
                  <c:v>0.118</c:v>
                </c:pt>
                <c:pt idx="5">
                  <c:v>0.2098</c:v>
                </c:pt>
                <c:pt idx="6">
                  <c:v>0.3318</c:v>
                </c:pt>
              </c:numCache>
            </c:numRef>
          </c:val>
          <c:smooth val="0"/>
        </c:ser>
        <c:ser>
          <c:idx val="1"/>
          <c:order val="1"/>
          <c:tx>
            <c:strRef>
              <c:f>Sheet1!$C$1</c:f>
              <c:strCache>
                <c:ptCount val="1"/>
                <c:pt idx="0">
                  <c:v>Stim DEPOLARIZE1</c:v>
                </c:pt>
              </c:strCache>
            </c:strRef>
          </c:tx>
          <c:spPr>
            <a:solidFill>
              <a:srgbClr val="1F3A4D"/>
            </a:solidFill>
            <a:ln w="25400" cap="flat">
              <a:solidFill>
                <a:srgbClr val="1F3A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3A4D"/>
              </a:solidFill>
              <a:ln w="9525" cap="flat">
                <a:solidFill>
                  <a:srgbClr val="1F3A4D"/>
                </a:solidFill>
                <a:prstDash val="solid"/>
                <a:round/>
              </a:ln>
              <a:effectLst/>
            </c:spPr>
          </c:marker>
          <c:cat>
            <c:multiLvlStrRef>
              <c:f>Sheet1!$A$2:$A$8</c:f>
              <c:multiLvlStrCache>
                <c:ptCount val="7"/>
                <c:lvl>
                  <c:pt idx="0">
                    <c:v>0</c:v>
                  </c:pt>
                  <c:pt idx="1">
                    <c:v>1</c:v>
                  </c:pt>
                  <c:pt idx="2">
                    <c:v>2</c:v>
                  </c:pt>
                  <c:pt idx="3">
                    <c:v>5</c:v>
                  </c:pt>
                  <c:pt idx="4">
                    <c:v>10</c:v>
                  </c:pt>
                  <c:pt idx="5">
                    <c:v>20</c:v>
                  </c:pt>
                  <c:pt idx="6">
                    <c:v>40</c:v>
                  </c:pt>
                </c:lvl>
              </c:multiLvlStrCache>
            </c:multiLvlStrRef>
          </c:cat>
          <c:val>
            <c:numRef>
              <c:f>Sheet1!$C$2:$C$8</c:f>
              <c:numCache>
                <c:formatCode>General</c:formatCode>
                <c:ptCount val="7"/>
                <c:pt idx="0">
                  <c:v>0</c:v>
                </c:pt>
                <c:pt idx="1">
                  <c:v>0.0135</c:v>
                </c:pt>
                <c:pt idx="2">
                  <c:v>0.0265</c:v>
                </c:pt>
                <c:pt idx="3">
                  <c:v>0.0631</c:v>
                </c:pt>
                <c:pt idx="4">
                  <c:v>0.117</c:v>
                </c:pt>
                <c:pt idx="5">
                  <c:v>0.2081</c:v>
                </c:pt>
                <c:pt idx="6">
                  <c:v>0.3313</c:v>
                </c:pt>
              </c:numCache>
            </c:numRef>
          </c:val>
          <c:smooth val="0"/>
        </c:ser>
        <c:ser>
          <c:idx val="2"/>
          <c:order val="2"/>
          <c:tx>
            <c:strRef>
              <c:f>Sheet1!$D$1</c:f>
              <c:strCache>
                <c:ptCount val="1"/>
                <c:pt idx="0">
                  <c:v>Stim X_ERROR</c:v>
                </c:pt>
              </c:strCache>
            </c:strRef>
          </c:tx>
          <c:spPr>
            <a:solidFill>
              <a:srgbClr val="9AA5AE"/>
            </a:solidFill>
            <a:ln w="25400" cap="flat">
              <a:solidFill>
                <a:srgbClr val="9AA5A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AA5AE"/>
              </a:solidFill>
              <a:ln w="9525" cap="flat">
                <a:solidFill>
                  <a:srgbClr val="9AA5AE"/>
                </a:solidFill>
                <a:prstDash val="solid"/>
                <a:round/>
              </a:ln>
              <a:effectLst/>
            </c:spPr>
          </c:marker>
          <c:cat>
            <c:multiLvlStrRef>
              <c:f>Sheet1!$A$2:$A$8</c:f>
              <c:multiLvlStrCache>
                <c:ptCount val="7"/>
                <c:lvl>
                  <c:pt idx="0">
                    <c:v>0</c:v>
                  </c:pt>
                  <c:pt idx="1">
                    <c:v>1</c:v>
                  </c:pt>
                  <c:pt idx="2">
                    <c:v>2</c:v>
                  </c:pt>
                  <c:pt idx="3">
                    <c:v>5</c:v>
                  </c:pt>
                  <c:pt idx="4">
                    <c:v>10</c:v>
                  </c:pt>
                  <c:pt idx="5">
                    <c:v>20</c:v>
                  </c:pt>
                  <c:pt idx="6">
                    <c:v>40</c:v>
                  </c:pt>
                </c:lvl>
              </c:multiLvlStrCache>
            </c:multiLvlStrRef>
          </c:cat>
          <c:val>
            <c:numRef>
              <c:f>Sheet1!$D$2:$D$8</c:f>
              <c:numCache>
                <c:formatCode>General</c:formatCode>
                <c:ptCount val="7"/>
                <c:pt idx="0">
                  <c:v>0</c:v>
                </c:pt>
                <c:pt idx="1">
                  <c:v>0.02</c:v>
                </c:pt>
                <c:pt idx="2">
                  <c:v>0.0397</c:v>
                </c:pt>
                <c:pt idx="3">
                  <c:v>0.0907</c:v>
                </c:pt>
                <c:pt idx="4">
                  <c:v>0.1668</c:v>
                </c:pt>
                <c:pt idx="5">
                  <c:v>0.279</c:v>
                </c:pt>
                <c:pt idx="6">
                  <c:v>0.4068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idle operations 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7EA"/>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212B"/>
                </a:solidFill>
                <a:latin typeface="Arial"/>
              </a:defRPr>
            </a:pPr>
            <a:r>
              <a:rPr sz="1200" b="0" i="0" u="none" strike="noStrike">
                <a:solidFill>
                  <a:srgbClr val="17212B"/>
                </a:solidFill>
                <a:latin typeface="Arial"/>
              </a:rPr>
              <a:t>Rotated d=3: charged ops per round per data qubit (c = CNOT control, t = target)</a:t>
            </a:r>
          </a:p>
        </c:rich>
      </c:tx>
      <c:layout/>
      <c:overlay val="0"/>
    </c:title>
    <c:autoTitleDeleted val="0"/>
    <c:plotArea>
      <c:layout/>
      <c:barChart>
        <c:barDir val="col"/>
        <c:grouping val="clustered"/>
        <c:varyColors val="0"/>
        <c:ser>
          <c:idx val="0"/>
          <c:order val="0"/>
          <c:tx>
            <c:strRef>
              <c:f>Sheet1!$B$1</c:f>
              <c:strCache>
                <c:ptCount val="1"/>
                <c:pt idx="0">
                  <c:v>measured</c:v>
                </c:pt>
              </c:strCache>
            </c:strRef>
          </c:tx>
          <c:spPr>
            <a:solidFill>
              <a:srgbClr val="1F3A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q0 1c/1t</c:v>
                  </c:pt>
                  <c:pt idx="1">
                    <c:v>q1 1c/2t</c:v>
                  </c:pt>
                  <c:pt idx="2">
                    <c:v>q2 1c/1t</c:v>
                  </c:pt>
                  <c:pt idx="3">
                    <c:v>q3 2c/1t</c:v>
                  </c:pt>
                  <c:pt idx="4">
                    <c:v>q4 2c/2t</c:v>
                  </c:pt>
                  <c:pt idx="5">
                    <c:v>q5 2c/1t</c:v>
                  </c:pt>
                  <c:pt idx="6">
                    <c:v>q6 1c/1t</c:v>
                  </c:pt>
                  <c:pt idx="7">
                    <c:v>q7 1c/2t</c:v>
                  </c:pt>
                  <c:pt idx="8">
                    <c:v>q8 1c/1t</c:v>
                  </c:pt>
                </c:lvl>
              </c:multiLvlStrCache>
            </c:multiLvlStrRef>
          </c:cat>
          <c:val>
            <c:numRef>
              <c:f>Sheet1!$B$2:$B$10</c:f>
              <c:numCache>
                <c:formatCode>General</c:formatCode>
                <c:ptCount val="9"/>
                <c:pt idx="0">
                  <c:v>4.984</c:v>
                </c:pt>
                <c:pt idx="1">
                  <c:v>9.998</c:v>
                </c:pt>
                <c:pt idx="2">
                  <c:v>5.879</c:v>
                </c:pt>
                <c:pt idx="3">
                  <c:v>7.96</c:v>
                </c:pt>
                <c:pt idx="4">
                  <c:v>11.399</c:v>
                </c:pt>
                <c:pt idx="5">
                  <c:v>5.254</c:v>
                </c:pt>
                <c:pt idx="6">
                  <c:v>4.883</c:v>
                </c:pt>
                <c:pt idx="7">
                  <c:v>7.715</c:v>
                </c:pt>
                <c:pt idx="8">
                  <c:v>3.927</c:v>
                </c:pt>
              </c:numCache>
            </c:numRef>
          </c:val>
        </c:ser>
        <c:ser>
          <c:idx val="1"/>
          <c:order val="1"/>
          <c:tx>
            <c:strRef>
              <c:f>Sheet1!$C$1</c:f>
              <c:strCache>
                <c:ptCount val="1"/>
                <c:pt idx="0">
                  <c:v>a·n_control + b·n_target</c:v>
                </c:pt>
              </c:strCache>
            </c:strRef>
          </c:tx>
          <c:spPr>
            <a:solidFill>
              <a:srgbClr val="B4BD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q0 1c/1t</c:v>
                  </c:pt>
                  <c:pt idx="1">
                    <c:v>q1 1c/2t</c:v>
                  </c:pt>
                  <c:pt idx="2">
                    <c:v>q2 1c/1t</c:v>
                  </c:pt>
                  <c:pt idx="3">
                    <c:v>q3 2c/1t</c:v>
                  </c:pt>
                  <c:pt idx="4">
                    <c:v>q4 2c/2t</c:v>
                  </c:pt>
                  <c:pt idx="5">
                    <c:v>q5 2c/1t</c:v>
                  </c:pt>
                  <c:pt idx="6">
                    <c:v>q6 1c/1t</c:v>
                  </c:pt>
                  <c:pt idx="7">
                    <c:v>q7 1c/2t</c:v>
                  </c:pt>
                  <c:pt idx="8">
                    <c:v>q8 1c/1t</c:v>
                  </c:pt>
                </c:lvl>
              </c:multiLvlStrCache>
            </c:multiLvlStrRef>
          </c:cat>
          <c:val>
            <c:numRef>
              <c:f>Sheet1!$C$2:$C$10</c:f>
              <c:numCache>
                <c:formatCode>General</c:formatCode>
                <c:ptCount val="9"/>
                <c:pt idx="0">
                  <c:v>5.227</c:v>
                </c:pt>
                <c:pt idx="1">
                  <c:v>8.966</c:v>
                </c:pt>
                <c:pt idx="2">
                  <c:v>5.227</c:v>
                </c:pt>
                <c:pt idx="3">
                  <c:v>6.716</c:v>
                </c:pt>
                <c:pt idx="4">
                  <c:v>10.454</c:v>
                </c:pt>
                <c:pt idx="5">
                  <c:v>6.716</c:v>
                </c:pt>
                <c:pt idx="6">
                  <c:v>5.227</c:v>
                </c:pt>
                <c:pt idx="7">
                  <c:v>8.966</c:v>
                </c:pt>
                <c:pt idx="8">
                  <c:v>5.227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7212B"/>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from the Haug–Bharti–Aolita paper: is there an optimal interval between syndrome rounds, and does it survive a real extraction circuit? Each slide is one step, from calibrating a Selene round to the Selene result and then to hardware-like idle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model has three channels and two free parameters. Everything that follows is about which of these we can reproduce, which we have to measure, and whether the optimum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each step uses the one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Adjacent inverse gates are peepholed away, so identity pairs cost nothing; phased_x(0,0) and rz(0) survive. p_meas isolates cleanly and reads directly as the flip probability. The shared p_1q knob is what 04c later untangles.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p_1q tracks DEPOLARIZE1 and the 2p/3 curve, not X_ERROR. p_meas is an independent flip of the reported bit and matches Stim M(p). The mismatch is on the data side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codes measured: rotated and unrotated, d = 3, 5, 7. The two-coefficient control/target model is stable across all six. Measured values are exported to surface_extraction_measured.yaml and read by 05 and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p_1q and p_2q stay additive on surface codes within 0.4 sigma, so lambda can be built from two separately measured counts. One Rzz per CNOT, on both qubits.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Calibrated constants lengthen the optimum 2.6–3x; lambda alone accounts for almost all of it (05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established, what is still open, and what was measured versus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and 2 are the direct continuations of 07. Items 3 to 5 extend the noise model. Item 6 is a guard against silent breakage.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05a_pL_vs_tau.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06b_hand_vs_full_decoder.png"/><Relationship Id="rId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06c_deck.png"/><Relationship Id="rId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06c_tau_star_vs_d.png"/><Relationship Id="rId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07b_dt_star_scaling.png"/><Relationship Id="rId2"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image" Target="../media/07e_h2_ratio_direct.png"/><Relationship Id="rId2"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07a_rate_vs_dt.png"/><Relationship Id="rId2"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image" Target="../media/07c_dt_star_map.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12B"/>
        </a:solidFill>
      </p:bgPr>
    </p:bg>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ctr"/>
          <a:lstStyle/>
          <a:p>
            <a:pPr indent="0" marL="0">
              <a:buNone/>
            </a:pPr>
            <a:r>
              <a:rPr lang="en-US" sz="1800" dirty="0">
                <a:solidFill>
                  <a:srgbClr val="E8692F"/>
                </a:solidFill>
                <a:latin typeface="Courier New" pitchFamily="34" charset="0"/>
                <a:ea typeface="Courier New" pitchFamily="34" charset="-122"/>
                <a:cs typeface="Courier New" pitchFamily="34" charset="-120"/>
              </a:rPr>
              <a:t>noise_qec</a:t>
            </a:r>
            <a:endParaRPr lang="en-US" sz="1800" dirty="0"/>
          </a:p>
        </p:txBody>
      </p:sp>
      <p:sp>
        <p:nvSpPr>
          <p:cNvPr id="3" name="Text 1"/>
          <p:cNvSpPr txBox="1"/>
          <p:nvPr/>
        </p:nvSpPr>
        <p:spPr>
          <a:xfrm>
            <a:off x="731520" y="1737360"/>
            <a:ext cx="1051560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How often should syndromes be measured?</a:t>
            </a:r>
            <a:endParaRPr lang="en-US" sz="4400" dirty="0"/>
          </a:p>
        </p:txBody>
      </p:sp>
      <p:sp>
        <p:nvSpPr>
          <p:cNvPr id="4" name="Text 2"/>
          <p:cNvSpPr txBox="1"/>
          <p:nvPr/>
        </p:nvSpPr>
        <p:spPr>
          <a:xfrm>
            <a:off x="731520" y="3154680"/>
            <a:ext cx="10058400" cy="54864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From the paper's model to Selene's circuit (d = 3, 5, 7) and an estimate for H2</a:t>
            </a:r>
            <a:endParaRPr lang="en-US" sz="2000" dirty="0"/>
          </a:p>
        </p:txBody>
      </p:sp>
      <p:sp>
        <p:nvSpPr>
          <p:cNvPr id="5" name="Text 3"/>
          <p:cNvSpPr txBox="1"/>
          <p:nvPr/>
        </p:nvSpPr>
        <p:spPr>
          <a:xfrm>
            <a:off x="731520" y="4846320"/>
            <a:ext cx="10515600" cy="822960"/>
          </a:xfrm>
          <a:prstGeom prst="rect">
            <a:avLst/>
          </a:prstGeom>
          <a:noFill/>
          <a:ln/>
        </p:spPr>
        <p:txBody>
          <a:bodyPr wrap="square" lIns="0" tIns="0" rIns="0" bIns="0" rtlCol="0" anchor="ctr"/>
          <a:lstStyle/>
          <a:p>
            <a:pPr indent="0" marL="0">
              <a:buNone/>
            </a:pPr>
            <a:r>
              <a:rPr lang="en-US" sz="1400" b="1" dirty="0">
                <a:solidFill>
                  <a:srgbClr val="9FB2C1"/>
                </a:solidFill>
                <a:latin typeface="Calibri" pitchFamily="34" charset="0"/>
                <a:ea typeface="Calibri" pitchFamily="34" charset="-122"/>
                <a:cs typeface="Calibri" pitchFamily="34" charset="-120"/>
              </a:rPr>
              <a:t>Starting point: </a:t>
            </a:r>
            <a:r>
              <a:rPr lang="en-US" sz="1400" dirty="0">
                <a:solidFill>
                  <a:srgbClr val="9FB2C1"/>
                </a:solidFill>
                <a:latin typeface="Calibri" pitchFamily="34" charset="0"/>
                <a:ea typeface="Calibri" pitchFamily="34" charset="-122"/>
                <a:cs typeface="Calibri" pitchFamily="34" charset="-120"/>
              </a:rPr>
              <a:t>Haug, Bharti &amp; Aolita, arXiv:2608.06242, optimal syndrome-measurement timing</a:t>
            </a:r>
            <a:endParaRPr lang="en-US" sz="1400" dirty="0"/>
          </a:p>
          <a:p>
            <a:pPr indent="0" marL="0">
              <a:buNone/>
            </a:pPr>
            <a:r>
              <a:rPr lang="en-US" sz="1400" b="1" dirty="0">
                <a:solidFill>
                  <a:srgbClr val="9FB2C1"/>
                </a:solidFill>
                <a:latin typeface="Calibri" pitchFamily="34" charset="0"/>
                <a:ea typeface="Calibri" pitchFamily="34" charset="-122"/>
                <a:cs typeface="Calibri" pitchFamily="34" charset="-120"/>
              </a:rPr>
              <a:t>Stack: </a:t>
            </a:r>
            <a:r>
              <a:rPr lang="en-US" sz="1400" dirty="0">
                <a:solidFill>
                  <a:srgbClr val="9FB2C1"/>
                </a:solidFill>
                <a:latin typeface="Calibri" pitchFamily="34" charset="0"/>
                <a:ea typeface="Calibri" pitchFamily="34" charset="-122"/>
                <a:cs typeface="Calibri" pitchFamily="34" charset="-120"/>
              </a:rPr>
              <a:t>Selene (Guppy, native depolarizing noise) and Stim + PyMatching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b="1" dirty="0">
                <a:solidFill>
                  <a:srgbClr val="17212B"/>
                </a:solidFill>
                <a:latin typeface="Cambria" pitchFamily="34" charset="0"/>
                <a:ea typeface="Cambria" pitchFamily="34" charset="-122"/>
                <a:cs typeface="Cambria" pitchFamily="34" charset="-120"/>
              </a:rPr>
              <a:t>The question and the paper's model</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arXiv:2608.06242 · Haug, Bharti &amp; Aolita</a:t>
            </a:r>
            <a:endParaRPr lang="en-US" sz="1100" dirty="0"/>
          </a:p>
        </p:txBody>
      </p:sp>
      <p:sp>
        <p:nvSpPr>
          <p:cNvPr id="6" name="Text 4"/>
          <p:cNvSpPr txBox="1"/>
          <p:nvPr/>
        </p:nvSpPr>
        <p:spPr>
          <a:xfrm>
            <a:off x="457200" y="1371600"/>
            <a:ext cx="5303520" cy="274320"/>
          </a:xfrm>
          <a:prstGeom prst="rect">
            <a:avLst/>
          </a:prstGeom>
          <a:noFill/>
          <a:ln/>
        </p:spPr>
        <p:txBody>
          <a:bodyPr wrap="square" lIns="0" tIns="0" rIns="0" bIns="0" rtlCol="0" anchor="ctr"/>
          <a:lstStyle/>
          <a:p>
            <a:pPr indent="0" marL="0">
              <a:buNone/>
            </a:pPr>
            <a:r>
              <a:rPr lang="en-US" sz="1100" b="1" spc="200" kern="0" dirty="0">
                <a:solidFill>
                  <a:srgbClr val="E8692F"/>
                </a:solidFill>
                <a:latin typeface="Calibri" pitchFamily="34" charset="0"/>
                <a:ea typeface="Calibri" pitchFamily="34" charset="-122"/>
                <a:cs typeface="Calibri" pitchFamily="34" charset="-120"/>
              </a:rPr>
              <a:t>THE TRADE-OFF</a:t>
            </a:r>
            <a:endParaRPr lang="en-US" sz="1100" dirty="0"/>
          </a:p>
        </p:txBody>
      </p:sp>
      <p:sp>
        <p:nvSpPr>
          <p:cNvPr id="7" name="Text 5"/>
          <p:cNvSpPr txBox="1"/>
          <p:nvPr/>
        </p:nvSpPr>
        <p:spPr>
          <a:xfrm>
            <a:off x="457200" y="1691640"/>
            <a:ext cx="5303520" cy="237744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rgbClr val="17212B"/>
                </a:solidFill>
                <a:latin typeface="Calibri" pitchFamily="34" charset="0"/>
                <a:ea typeface="Calibri" pitchFamily="34" charset="-122"/>
                <a:cs typeface="Calibri" pitchFamily="34" charset="-120"/>
              </a:rPr>
              <a:t>Measure too often: </a:t>
            </a:r>
            <a:r>
              <a:rPr lang="en-US" sz="1500" dirty="0">
                <a:solidFill>
                  <a:srgbClr val="17212B"/>
                </a:solidFill>
                <a:latin typeface="Calibri" pitchFamily="34" charset="0"/>
                <a:ea typeface="Calibri" pitchFamily="34" charset="-122"/>
                <a:cs typeface="Calibri" pitchFamily="34" charset="-120"/>
              </a:rPr>
              <a:t>every extraction round puts its own faults on the data (p_stab) and adds noisy syndrome bits.</a:t>
            </a:r>
            <a:endParaRPr lang="en-US" sz="1500" dirty="0"/>
          </a:p>
          <a:p>
            <a:pPr marL="203200" indent="-203200">
              <a:spcAft>
                <a:spcPts val="800"/>
              </a:spcAft>
              <a:buSzPct val="100000"/>
              <a:buChar char="•"/>
            </a:pPr>
            <a:r>
              <a:rPr lang="en-US" sz="1500" b="1" dirty="0">
                <a:solidFill>
                  <a:srgbClr val="17212B"/>
                </a:solidFill>
                <a:latin typeface="Calibri" pitchFamily="34" charset="0"/>
                <a:ea typeface="Calibri" pitchFamily="34" charset="-122"/>
                <a:cs typeface="Calibri" pitchFamily="34" charset="-120"/>
              </a:rPr>
              <a:t>Measure too rarely: </a:t>
            </a:r>
            <a:r>
              <a:rPr lang="en-US" sz="1500" dirty="0">
                <a:solidFill>
                  <a:srgbClr val="17212B"/>
                </a:solidFill>
                <a:latin typeface="Calibri" pitchFamily="34" charset="0"/>
                <a:ea typeface="Calibri" pitchFamily="34" charset="-122"/>
                <a:cs typeface="Calibri" pitchFamily="34" charset="-120"/>
              </a:rPr>
              <a:t>idle error accumulates past what the code can correct within one interval.</a:t>
            </a:r>
            <a:endParaRPr lang="en-US" sz="1500" dirty="0"/>
          </a:p>
          <a:p>
            <a:pPr marL="203200" indent="-203200">
              <a:spcAft>
                <a:spcPts val="800"/>
              </a:spcAft>
              <a:buSzPct val="100000"/>
              <a:buChar char="•"/>
            </a:pPr>
            <a:r>
              <a:rPr lang="en-US" sz="1500" dirty="0">
                <a:solidFill>
                  <a:srgbClr val="17212B"/>
                </a:solidFill>
                <a:latin typeface="Calibri" pitchFamily="34" charset="0"/>
                <a:ea typeface="Calibri" pitchFamily="34" charset="-122"/>
                <a:cs typeface="Calibri" pitchFamily="34" charset="-120"/>
              </a:rPr>
              <a:t>So the interval Δt between rounds should have an interior optimum.</a:t>
            </a:r>
            <a:endParaRPr lang="en-US" sz="1500" dirty="0"/>
          </a:p>
        </p:txBody>
      </p:sp>
      <p:sp>
        <p:nvSpPr>
          <p:cNvPr id="8" name="Text 6"/>
          <p:cNvSpPr txBox="1"/>
          <p:nvPr/>
        </p:nvSpPr>
        <p:spPr>
          <a:xfrm>
            <a:off x="457200" y="3931920"/>
            <a:ext cx="5303520" cy="274320"/>
          </a:xfrm>
          <a:prstGeom prst="rect">
            <a:avLst/>
          </a:prstGeom>
          <a:noFill/>
          <a:ln/>
        </p:spPr>
        <p:txBody>
          <a:bodyPr wrap="square" lIns="0" tIns="0" rIns="0" bIns="0" rtlCol="0" anchor="ctr"/>
          <a:lstStyle/>
          <a:p>
            <a:pPr indent="0" marL="0">
              <a:buNone/>
            </a:pPr>
            <a:r>
              <a:rPr lang="en-US" sz="1100" spc="200" kern="0" dirty="0">
                <a:solidFill>
                  <a:srgbClr val="E8692F"/>
                </a:solidFill>
                <a:latin typeface="Calibri" pitchFamily="34" charset="0"/>
                <a:ea typeface="Calibri" pitchFamily="34" charset="-122"/>
                <a:cs typeface="Calibri" pitchFamily="34" charset="-120"/>
              </a:rPr>
              <a:t>THE SCORE</a:t>
            </a:r>
            <a:endParaRPr lang="en-US" sz="1100" dirty="0"/>
          </a:p>
        </p:txBody>
      </p:sp>
      <p:sp>
        <p:nvSpPr>
          <p:cNvPr id="9" name="Text 7"/>
          <p:cNvSpPr txBox="1"/>
          <p:nvPr/>
        </p:nvSpPr>
        <p:spPr>
          <a:xfrm>
            <a:off x="457200" y="4251960"/>
            <a:ext cx="5394960" cy="1280160"/>
          </a:xfrm>
          <a:prstGeom prst="rect">
            <a:avLst/>
          </a:prstGeom>
          <a:noFill/>
          <a:ln/>
        </p:spPr>
        <p:txBody>
          <a:bodyPr wrap="square" lIns="0" tIns="0" rIns="0" bIns="0" rtlCol="0" anchor="t"/>
          <a:lstStyle/>
          <a:p>
            <a:pPr indent="0" marL="0">
              <a:spcAft>
                <a:spcPts val="600"/>
              </a:spcAft>
              <a:buNone/>
            </a:pPr>
            <a:r>
              <a:rPr lang="en-US" sz="1400" b="1" dirty="0">
                <a:solidFill>
                  <a:srgbClr val="1F3A4D"/>
                </a:solidFill>
                <a:latin typeface="Courier New" pitchFamily="34" charset="0"/>
                <a:ea typeface="Courier New" pitchFamily="34" charset="-122"/>
                <a:cs typeface="Courier New" pitchFamily="34" charset="-120"/>
              </a:rPr>
              <a:t xml:space="preserve">pL / T  </a:t>
            </a:r>
            <a:r>
              <a:rPr lang="en-US" sz="1400" dirty="0">
                <a:solidFill>
                  <a:srgbClr val="17212B"/>
                </a:solidFill>
                <a:latin typeface="Calibri" pitchFamily="34" charset="0"/>
                <a:ea typeface="Calibri" pitchFamily="34" charset="-122"/>
                <a:cs typeface="Calibri" pitchFamily="34" charset="-120"/>
              </a:rPr>
              <a:t>the paper's figure of merit, at fixed total time T = N·Δt</a:t>
            </a:r>
            <a:endParaRPr lang="en-US" sz="1400" dirty="0"/>
          </a:p>
          <a:p>
            <a:pPr indent="0" marL="0">
              <a:spcAft>
                <a:spcPts val="600"/>
              </a:spcAft>
              <a:buNone/>
            </a:pPr>
            <a:r>
              <a:rPr lang="en-US" sz="1400" b="1" dirty="0">
                <a:solidFill>
                  <a:srgbClr val="1F3A4D"/>
                </a:solidFill>
                <a:latin typeface="Courier New" pitchFamily="34" charset="0"/>
                <a:ea typeface="Courier New" pitchFamily="34" charset="-122"/>
                <a:cs typeface="Courier New" pitchFamily="34" charset="-120"/>
              </a:rPr>
              <a:t xml:space="preserve">R = −ln(1 − 2pL) / 2T  </a:t>
            </a:r>
            <a:r>
              <a:rPr lang="en-US" sz="1400" dirty="0">
                <a:solidFill>
                  <a:srgbClr val="17212B"/>
                </a:solidFill>
                <a:latin typeface="Calibri" pitchFamily="34" charset="0"/>
                <a:ea typeface="Calibri" pitchFamily="34" charset="-122"/>
                <a:cs typeface="Calibri" pitchFamily="34" charset="-120"/>
              </a:rPr>
              <a:t>the same rate, still honest as pL → ½. Δt* minimises it.</a:t>
            </a:r>
            <a:endParaRPr lang="en-US" sz="1400" dirty="0"/>
          </a:p>
        </p:txBody>
      </p:sp>
      <p:sp>
        <p:nvSpPr>
          <p:cNvPr id="10" name="Text 8"/>
          <p:cNvSpPr txBox="1"/>
          <p:nvPr/>
        </p:nvSpPr>
        <p:spPr>
          <a:xfrm>
            <a:off x="6309360" y="1371600"/>
            <a:ext cx="5486400" cy="274320"/>
          </a:xfrm>
          <a:prstGeom prst="rect">
            <a:avLst/>
          </a:prstGeom>
          <a:noFill/>
          <a:ln/>
        </p:spPr>
        <p:txBody>
          <a:bodyPr wrap="square" lIns="0" tIns="0" rIns="0" bIns="0" rtlCol="0" anchor="ctr"/>
          <a:lstStyle/>
          <a:p>
            <a:pPr indent="0" marL="0">
              <a:buNone/>
            </a:pPr>
            <a:r>
              <a:rPr lang="en-US" sz="1100" b="1" spc="200" kern="0" dirty="0">
                <a:solidFill>
                  <a:srgbClr val="E8692F"/>
                </a:solidFill>
                <a:latin typeface="Calibri" pitchFamily="34" charset="0"/>
                <a:ea typeface="Calibri" pitchFamily="34" charset="-122"/>
                <a:cs typeface="Calibri" pitchFamily="34" charset="-120"/>
              </a:rPr>
              <a:t>THE PAPER'S MODEL (BIT-FLIP, ONE SECTOR)</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309360" y="1737360"/>
          <a:ext cx="5422392" cy="914400"/>
        </p:xfrm>
        <a:graphic>
          <a:graphicData uri="http://schemas.openxmlformats.org/drawingml/2006/table">
            <a:tbl>
              <a:tblPr/>
              <a:tblGrid>
                <a:gridCol w="1737360"/>
                <a:gridCol w="2496312"/>
                <a:gridCol w="11887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channel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acts 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rate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384048">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extraction (p_stab)</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each data qubit, once per round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p</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idling</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each data qubit, over wait Δt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p·λ·Δt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r>
              <a:tr h="384048">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readout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each syndrome bit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b_read·p</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6309360" y="3520440"/>
            <a:ext cx="5422392" cy="2011680"/>
          </a:xfrm>
          <a:prstGeom prst="rect">
            <a:avLst/>
          </a:prstGeom>
          <a:noFill/>
          <a:ln/>
        </p:spPr>
        <p:txBody>
          <a:bodyPr wrap="square" lIns="0" tIns="0" rIns="0" bIns="0" rtlCol="0" anchor="t"/>
          <a:lstStyle/>
          <a:p>
            <a:pPr indent="0" marL="0">
              <a:buNone/>
            </a:pPr>
            <a:r>
              <a:rPr lang="en-US" sz="1400" b="1" dirty="0">
                <a:solidFill>
                  <a:srgbClr val="17212B"/>
                </a:solidFill>
                <a:latin typeface="Calibri" pitchFamily="34" charset="0"/>
                <a:ea typeface="Calibri" pitchFamily="34" charset="-122"/>
                <a:cs typeface="Calibri" pitchFamily="34" charset="-120"/>
              </a:rPr>
              <a:t>Two free parameters: </a:t>
            </a:r>
            <a:r>
              <a:rPr lang="en-US" sz="1400" dirty="0">
                <a:solidFill>
                  <a:srgbClr val="17212B"/>
                </a:solidFill>
                <a:latin typeface="Calibri" pitchFamily="34" charset="0"/>
                <a:ea typeface="Calibri" pitchFamily="34" charset="-122"/>
                <a:cs typeface="Calibri" pitchFamily="34" charset="-120"/>
              </a:rPr>
              <a:t>p (gate quality) and λ (idling relative to a round; ≈ 0.31 for Willow). No ancilla, no gates, no propagation.</a:t>
            </a:r>
            <a:endParaRPr lang="en-US" sz="1400" dirty="0"/>
          </a:p>
          <a:p>
            <a:pPr indent="0" marL="0">
              <a:buNone/>
            </a:pPr>
            <a:r>
              <a:rPr lang="en-US" sz="1400" dirty="0">
                <a:solidFill>
                  <a:srgbClr val="17212B"/>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7212B"/>
                </a:solidFill>
                <a:latin typeface="Calibri" pitchFamily="34" charset="0"/>
                <a:ea typeface="Calibri" pitchFamily="34" charset="-122"/>
                <a:cs typeface="Calibri" pitchFamily="34" charset="-120"/>
              </a:rPr>
              <a:t>Our job: </a:t>
            </a:r>
            <a:r>
              <a:rPr lang="en-US" sz="1400" dirty="0">
                <a:solidFill>
                  <a:srgbClr val="17212B"/>
                </a:solidFill>
                <a:latin typeface="Calibri" pitchFamily="34" charset="0"/>
                <a:ea typeface="Calibri" pitchFamily="34" charset="-122"/>
                <a:cs typeface="Calibri" pitchFamily="34" charset="-120"/>
              </a:rPr>
              <a:t>find out whether an optimum survives when p_stab, λ and b_read come from a real extraction circuit instead of being declared.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b="1" dirty="0">
                <a:solidFill>
                  <a:srgbClr val="17212B"/>
                </a:solidFill>
                <a:latin typeface="Cambria" pitchFamily="34" charset="0"/>
                <a:ea typeface="Cambria" pitchFamily="34" charset="-122"/>
                <a:cs typeface="Cambria" pitchFamily="34" charset="-120"/>
              </a:rPr>
              <a:t>The route through the notebooks</a:t>
            </a:r>
            <a:endParaRPr lang="en-US" sz="2800" dirty="0"/>
          </a:p>
        </p:txBody>
      </p:sp>
      <p:sp>
        <p:nvSpPr>
          <p:cNvPr id="5" name="Shape 3"/>
          <p:cNvSpPr/>
          <p:nvPr/>
        </p:nvSpPr>
        <p:spPr>
          <a:xfrm>
            <a:off x="457200" y="1371600"/>
            <a:ext cx="2743200" cy="4114800"/>
          </a:xfrm>
          <a:prstGeom prst="roundRect">
            <a:avLst>
              <a:gd name="adj" fmla="val 3333"/>
            </a:avLst>
          </a:prstGeom>
          <a:solidFill>
            <a:srgbClr val="EEF2F5"/>
          </a:solidFill>
          <a:ln w="12700">
            <a:solidFill>
              <a:srgbClr val="EEF2F5"/>
            </a:solidFill>
            <a:prstDash val="solid"/>
          </a:ln>
        </p:spPr>
      </p:sp>
      <p:sp>
        <p:nvSpPr>
          <p:cNvPr id="6" name="Shape 4"/>
          <p:cNvSpPr/>
          <p:nvPr/>
        </p:nvSpPr>
        <p:spPr>
          <a:xfrm>
            <a:off x="685800" y="1600200"/>
            <a:ext cx="384048" cy="384048"/>
          </a:xfrm>
          <a:prstGeom prst="ellipse">
            <a:avLst/>
          </a:prstGeom>
          <a:solidFill>
            <a:srgbClr val="1F3A4D"/>
          </a:solidFill>
          <a:ln w="12700">
            <a:solidFill>
              <a:srgbClr val="1F3A4D"/>
            </a:solidFill>
            <a:prstDash val="solid"/>
          </a:ln>
        </p:spPr>
      </p:sp>
      <p:sp>
        <p:nvSpPr>
          <p:cNvPr id="7" name="Text 5"/>
          <p:cNvSpPr txBox="1"/>
          <p:nvPr/>
        </p:nvSpPr>
        <p:spPr>
          <a:xfrm>
            <a:off x="685800" y="2103120"/>
            <a:ext cx="2286000" cy="731520"/>
          </a:xfrm>
          <a:prstGeom prst="rect">
            <a:avLst/>
          </a:prstGeom>
          <a:noFill/>
          <a:ln/>
        </p:spPr>
        <p:txBody>
          <a:bodyPr wrap="square" lIns="0" tIns="0" rIns="0" bIns="0" rtlCol="0" anchor="t"/>
          <a:lstStyle/>
          <a:p>
            <a:pPr indent="0" marL="0">
              <a:buNone/>
            </a:pPr>
            <a:r>
              <a:rPr lang="en-US" sz="1800" b="1" dirty="0">
                <a:solidFill>
                  <a:srgbClr val="17212B"/>
                </a:solidFill>
                <a:latin typeface="Cambria" pitchFamily="34" charset="0"/>
                <a:ea typeface="Cambria" pitchFamily="34" charset="-122"/>
                <a:cs typeface="Cambria" pitchFamily="34" charset="-120"/>
              </a:rPr>
              <a:t>A · Make the noise model usable</a:t>
            </a:r>
            <a:endParaRPr lang="en-US" sz="1800" dirty="0"/>
          </a:p>
        </p:txBody>
      </p:sp>
      <p:sp>
        <p:nvSpPr>
          <p:cNvPr id="8" name="Text 6"/>
          <p:cNvSpPr txBox="1"/>
          <p:nvPr/>
        </p:nvSpPr>
        <p:spPr>
          <a:xfrm>
            <a:off x="685800" y="2926080"/>
            <a:ext cx="2377440" cy="2377440"/>
          </a:xfrm>
          <a:prstGeom prst="rect">
            <a:avLst/>
          </a:prstGeom>
          <a:noFill/>
          <a:ln/>
        </p:spPr>
        <p:txBody>
          <a:bodyPr wrap="square" lIns="0" tIns="0" rIns="0" bIns="0" rtlCol="0" anchor="t"/>
          <a:lstStyle/>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1  noise_analysis</a:t>
            </a:r>
            <a:endParaRPr lang="en-US" sz="1100" dirty="0"/>
          </a:p>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2  03 channel audit</a:t>
            </a:r>
            <a:endParaRPr lang="en-US" sz="1100" dirty="0"/>
          </a:p>
        </p:txBody>
      </p:sp>
      <p:sp>
        <p:nvSpPr>
          <p:cNvPr id="9" name="Shape 7"/>
          <p:cNvSpPr/>
          <p:nvPr/>
        </p:nvSpPr>
        <p:spPr>
          <a:xfrm>
            <a:off x="3429000" y="1371600"/>
            <a:ext cx="2743200" cy="4114800"/>
          </a:xfrm>
          <a:prstGeom prst="roundRect">
            <a:avLst>
              <a:gd name="adj" fmla="val 3333"/>
            </a:avLst>
          </a:prstGeom>
          <a:solidFill>
            <a:srgbClr val="EEF2F5"/>
          </a:solidFill>
          <a:ln w="12700">
            <a:solidFill>
              <a:srgbClr val="EEF2F5"/>
            </a:solidFill>
            <a:prstDash val="solid"/>
          </a:ln>
        </p:spPr>
      </p:sp>
      <p:sp>
        <p:nvSpPr>
          <p:cNvPr id="10" name="Shape 8"/>
          <p:cNvSpPr/>
          <p:nvPr/>
        </p:nvSpPr>
        <p:spPr>
          <a:xfrm>
            <a:off x="3657600" y="1600200"/>
            <a:ext cx="384048" cy="384048"/>
          </a:xfrm>
          <a:prstGeom prst="ellipse">
            <a:avLst/>
          </a:prstGeom>
          <a:solidFill>
            <a:srgbClr val="E8692F"/>
          </a:solidFill>
          <a:ln w="12700">
            <a:solidFill>
              <a:srgbClr val="E8692F"/>
            </a:solidFill>
            <a:prstDash val="solid"/>
          </a:ln>
        </p:spPr>
      </p:sp>
      <p:sp>
        <p:nvSpPr>
          <p:cNvPr id="11" name="Text 9"/>
          <p:cNvSpPr txBox="1"/>
          <p:nvPr/>
        </p:nvSpPr>
        <p:spPr>
          <a:xfrm>
            <a:off x="3657600" y="2103120"/>
            <a:ext cx="2286000" cy="731520"/>
          </a:xfrm>
          <a:prstGeom prst="rect">
            <a:avLst/>
          </a:prstGeom>
          <a:noFill/>
          <a:ln/>
        </p:spPr>
        <p:txBody>
          <a:bodyPr wrap="square" lIns="0" tIns="0" rIns="0" bIns="0" rtlCol="0" anchor="t"/>
          <a:lstStyle/>
          <a:p>
            <a:pPr indent="0" marL="0">
              <a:buNone/>
            </a:pPr>
            <a:r>
              <a:rPr lang="en-US" sz="1800" b="1" dirty="0">
                <a:solidFill>
                  <a:srgbClr val="17212B"/>
                </a:solidFill>
                <a:latin typeface="Cambria" pitchFamily="34" charset="0"/>
                <a:ea typeface="Cambria" pitchFamily="34" charset="-122"/>
                <a:cs typeface="Cambria" pitchFamily="34" charset="-120"/>
              </a:rPr>
              <a:t>B · Price one extraction round</a:t>
            </a:r>
            <a:endParaRPr lang="en-US" sz="1800" dirty="0"/>
          </a:p>
        </p:txBody>
      </p:sp>
      <p:sp>
        <p:nvSpPr>
          <p:cNvPr id="12" name="Text 10"/>
          <p:cNvSpPr txBox="1"/>
          <p:nvPr/>
        </p:nvSpPr>
        <p:spPr>
          <a:xfrm>
            <a:off x="3657600" y="2926080"/>
            <a:ext cx="2377440" cy="2377440"/>
          </a:xfrm>
          <a:prstGeom prst="rect">
            <a:avLst/>
          </a:prstGeom>
          <a:noFill/>
          <a:ln/>
        </p:spPr>
        <p:txBody>
          <a:bodyPr wrap="square" lIns="0" tIns="0" rIns="0" bIns="0" rtlCol="0" anchor="t"/>
          <a:lstStyle/>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3  04 surface extraction</a:t>
            </a:r>
            <a:endParaRPr lang="en-US" sz="1100" dirty="0"/>
          </a:p>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4  04c adding p_2q</a:t>
            </a:r>
            <a:endParaRPr lang="en-US" sz="1100" dirty="0"/>
          </a:p>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5  04d readout check</a:t>
            </a:r>
            <a:endParaRPr lang="en-US" sz="1100" dirty="0"/>
          </a:p>
        </p:txBody>
      </p:sp>
      <p:sp>
        <p:nvSpPr>
          <p:cNvPr id="13" name="Shape 11"/>
          <p:cNvSpPr/>
          <p:nvPr/>
        </p:nvSpPr>
        <p:spPr>
          <a:xfrm>
            <a:off x="6400800" y="1371600"/>
            <a:ext cx="2743200" cy="4114800"/>
          </a:xfrm>
          <a:prstGeom prst="roundRect">
            <a:avLst>
              <a:gd name="adj" fmla="val 3333"/>
            </a:avLst>
          </a:prstGeom>
          <a:solidFill>
            <a:srgbClr val="EEF2F5"/>
          </a:solidFill>
          <a:ln w="12700">
            <a:solidFill>
              <a:srgbClr val="EEF2F5"/>
            </a:solidFill>
            <a:prstDash val="solid"/>
          </a:ln>
        </p:spPr>
      </p:sp>
      <p:sp>
        <p:nvSpPr>
          <p:cNvPr id="14" name="Shape 12"/>
          <p:cNvSpPr/>
          <p:nvPr/>
        </p:nvSpPr>
        <p:spPr>
          <a:xfrm>
            <a:off x="6629400" y="1600200"/>
            <a:ext cx="384048" cy="384048"/>
          </a:xfrm>
          <a:prstGeom prst="ellipse">
            <a:avLst/>
          </a:prstGeom>
          <a:solidFill>
            <a:srgbClr val="1A9E77"/>
          </a:solidFill>
          <a:ln w="12700">
            <a:solidFill>
              <a:srgbClr val="1A9E77"/>
            </a:solidFill>
            <a:prstDash val="solid"/>
          </a:ln>
        </p:spPr>
      </p:sp>
      <p:sp>
        <p:nvSpPr>
          <p:cNvPr id="15" name="Text 13"/>
          <p:cNvSpPr txBox="1"/>
          <p:nvPr/>
        </p:nvSpPr>
        <p:spPr>
          <a:xfrm>
            <a:off x="6629400" y="2103120"/>
            <a:ext cx="2286000" cy="731520"/>
          </a:xfrm>
          <a:prstGeom prst="rect">
            <a:avLst/>
          </a:prstGeom>
          <a:noFill/>
          <a:ln/>
        </p:spPr>
        <p:txBody>
          <a:bodyPr wrap="square" lIns="0" tIns="0" rIns="0" bIns="0" rtlCol="0" anchor="t"/>
          <a:lstStyle/>
          <a:p>
            <a:pPr indent="0" marL="0">
              <a:buNone/>
            </a:pPr>
            <a:r>
              <a:rPr lang="en-US" sz="1800" b="1" dirty="0">
                <a:solidFill>
                  <a:srgbClr val="17212B"/>
                </a:solidFill>
                <a:latin typeface="Cambria" pitchFamily="34" charset="0"/>
                <a:ea typeface="Cambria" pitchFamily="34" charset="-122"/>
                <a:cs typeface="Cambria" pitchFamily="34" charset="-120"/>
              </a:rPr>
              <a:t>C · Find the optimum</a:t>
            </a:r>
            <a:endParaRPr lang="en-US" sz="1800" dirty="0"/>
          </a:p>
        </p:txBody>
      </p:sp>
      <p:sp>
        <p:nvSpPr>
          <p:cNvPr id="16" name="Text 14"/>
          <p:cNvSpPr txBox="1"/>
          <p:nvPr/>
        </p:nvSpPr>
        <p:spPr>
          <a:xfrm>
            <a:off x="6629400" y="2926080"/>
            <a:ext cx="2377440" cy="2377440"/>
          </a:xfrm>
          <a:prstGeom prst="rect">
            <a:avLst/>
          </a:prstGeom>
          <a:noFill/>
          <a:ln/>
        </p:spPr>
        <p:txBody>
          <a:bodyPr wrap="square" lIns="0" tIns="0" rIns="0" bIns="0" rtlCol="0" anchor="t"/>
          <a:lstStyle/>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6  05 paper's model (Stim)</a:t>
            </a:r>
            <a:endParaRPr lang="en-US" sz="1100" dirty="0"/>
          </a:p>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7  06a/b decoder</a:t>
            </a:r>
            <a:endParaRPr lang="en-US" sz="1100" dirty="0"/>
          </a:p>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8  06c Selene, d = 3–7</a:t>
            </a:r>
            <a:endParaRPr lang="en-US" sz="1100" dirty="0"/>
          </a:p>
          <a:p>
            <a:pPr indent="0" marL="0">
              <a:spcAft>
                <a:spcPts val="1000"/>
              </a:spcAft>
              <a:buNone/>
            </a:pPr>
            <a:r>
              <a:rPr lang="en-US" sz="1100" dirty="0">
                <a:solidFill>
                  <a:srgbClr val="17212B"/>
                </a:solidFill>
                <a:latin typeface="Courier New" pitchFamily="34" charset="0"/>
                <a:ea typeface="Courier New" pitchFamily="34" charset="-122"/>
                <a:cs typeface="Courier New" pitchFamily="34" charset="-120"/>
              </a:rPr>
              <a:t>9  06c distance law</a:t>
            </a:r>
            <a:endParaRPr lang="en-US" sz="1100" dirty="0"/>
          </a:p>
        </p:txBody>
      </p:sp>
      <p:sp>
        <p:nvSpPr>
          <p:cNvPr id="17" name="Shape 15"/>
          <p:cNvSpPr/>
          <p:nvPr/>
        </p:nvSpPr>
        <p:spPr>
          <a:xfrm>
            <a:off x="9372600" y="1371600"/>
            <a:ext cx="2361895" cy="4114800"/>
          </a:xfrm>
          <a:prstGeom prst="roundRect">
            <a:avLst>
              <a:gd name="adj" fmla="val 3871"/>
            </a:avLst>
          </a:prstGeom>
          <a:solidFill>
            <a:srgbClr val="FFFFFF"/>
          </a:solidFill>
          <a:ln w="12700">
            <a:solidFill>
              <a:srgbClr val="CBD3DA"/>
            </a:solidFill>
            <a:prstDash val="dash"/>
          </a:ln>
        </p:spPr>
      </p:sp>
      <p:sp>
        <p:nvSpPr>
          <p:cNvPr id="18" name="Text 16"/>
          <p:cNvSpPr txBox="1"/>
          <p:nvPr/>
        </p:nvSpPr>
        <p:spPr>
          <a:xfrm>
            <a:off x="9555480" y="1600200"/>
            <a:ext cx="1996135" cy="365760"/>
          </a:xfrm>
          <a:prstGeom prst="rect">
            <a:avLst/>
          </a:prstGeom>
          <a:noFill/>
          <a:ln/>
        </p:spPr>
        <p:txBody>
          <a:bodyPr wrap="square" lIns="0" tIns="0" rIns="0" bIns="0" rtlCol="0" anchor="ctr"/>
          <a:lstStyle/>
          <a:p>
            <a:pPr indent="0" marL="0">
              <a:buNone/>
            </a:pPr>
            <a:r>
              <a:rPr lang="en-US" sz="1800" b="1" dirty="0">
                <a:solidFill>
                  <a:srgbClr val="17212B"/>
                </a:solidFill>
                <a:latin typeface="Cambria" pitchFamily="34" charset="0"/>
                <a:ea typeface="Cambria" pitchFamily="34" charset="-122"/>
                <a:cs typeface="Cambria" pitchFamily="34" charset="-120"/>
              </a:rPr>
              <a:t>D · Toward hardware</a:t>
            </a:r>
            <a:endParaRPr lang="en-US" sz="1800" dirty="0"/>
          </a:p>
        </p:txBody>
      </p:sp>
      <p:sp>
        <p:nvSpPr>
          <p:cNvPr id="19" name="Text 17"/>
          <p:cNvSpPr txBox="1"/>
          <p:nvPr/>
        </p:nvSpPr>
        <p:spPr>
          <a:xfrm>
            <a:off x="9555480" y="2057400"/>
            <a:ext cx="1996135" cy="1828800"/>
          </a:xfrm>
          <a:prstGeom prst="rect">
            <a:avLst/>
          </a:prstGeom>
          <a:noFill/>
          <a:ln/>
        </p:spPr>
        <p:txBody>
          <a:bodyPr wrap="square" lIns="0" tIns="0" rIns="0" bIns="0" rtlCol="0" anchor="t"/>
          <a:lstStyle/>
          <a:p>
            <a:pPr indent="0" marL="0">
              <a:buNone/>
            </a:pPr>
            <a:r>
              <a:rPr lang="en-US" sz="1250" dirty="0">
                <a:solidFill>
                  <a:srgbClr val="5B6770"/>
                </a:solidFill>
                <a:latin typeface="Calibri" pitchFamily="34" charset="0"/>
                <a:ea typeface="Calibri" pitchFamily="34" charset="-122"/>
                <a:cs typeface="Calibri" pitchFamily="34" charset="-120"/>
              </a:rPr>
              <a:t>Idle noise as trapped ions have it: dephasing.</a:t>
            </a:r>
            <a:endParaRPr lang="en-US" sz="1250" dirty="0"/>
          </a:p>
          <a:p>
            <a:pPr indent="0" marL="0">
              <a:buNone/>
            </a:pPr>
            <a:r>
              <a:rPr lang="en-US" sz="1250" dirty="0">
                <a:solidFill>
                  <a:srgbClr val="5B6770"/>
                </a:solidFill>
                <a:latin typeface="Calibri" pitchFamily="34" charset="0"/>
                <a:ea typeface="Calibri" pitchFamily="34" charset="-122"/>
                <a:cs typeface="Calibri" pitchFamily="34" charset="-120"/>
              </a:rPr>
              <a:t/>
            </a:r>
            <a:endParaRPr lang="en-US" sz="1250" dirty="0"/>
          </a:p>
          <a:p>
            <a:pPr indent="0" marL="0">
              <a:buNone/>
            </a:pPr>
            <a:r>
              <a:rPr lang="en-US" sz="950" dirty="0">
                <a:solidFill>
                  <a:srgbClr val="5B6770"/>
                </a:solidFill>
                <a:latin typeface="Courier New" pitchFamily="34" charset="0"/>
                <a:ea typeface="Courier New" pitchFamily="34" charset="-122"/>
                <a:cs typeface="Courier New" pitchFamily="34" charset="-120"/>
              </a:rPr>
              <a:t>10 07 rate curves</a:t>
            </a:r>
            <a:endParaRPr lang="en-US" sz="1250" dirty="0"/>
          </a:p>
          <a:p>
            <a:pPr indent="0" marL="0">
              <a:buNone/>
            </a:pPr>
            <a:r>
              <a:rPr lang="en-US" sz="950" dirty="0">
                <a:solidFill>
                  <a:srgbClr val="5B6770"/>
                </a:solidFill>
                <a:latin typeface="Courier New" pitchFamily="34" charset="0"/>
                <a:ea typeface="Courier New" pitchFamily="34" charset="-122"/>
                <a:cs typeface="Courier New" pitchFamily="34" charset="-120"/>
              </a:rPr>
              <a:t>11 07 Δt* scaling</a:t>
            </a:r>
            <a:endParaRPr lang="en-US" sz="1250" dirty="0"/>
          </a:p>
          <a:p>
            <a:pPr indent="0" marL="0">
              <a:buNone/>
            </a:pPr>
            <a:r>
              <a:rPr lang="en-US" sz="950" dirty="0">
                <a:solidFill>
                  <a:srgbClr val="5B6770"/>
                </a:solidFill>
                <a:latin typeface="Courier New" pitchFamily="34" charset="0"/>
                <a:ea typeface="Courier New" pitchFamily="34" charset="-122"/>
                <a:cs typeface="Courier New" pitchFamily="34" charset="-120"/>
              </a:rPr>
              <a:t>12 07 Δt* map</a:t>
            </a:r>
            <a:endParaRPr lang="en-US" sz="1250" dirty="0"/>
          </a:p>
          <a:p>
            <a:pPr indent="0" marL="0">
              <a:buNone/>
            </a:pPr>
            <a:r>
              <a:rPr lang="en-US" sz="950" dirty="0">
                <a:solidFill>
                  <a:srgbClr val="5B6770"/>
                </a:solidFill>
                <a:latin typeface="Courier New" pitchFamily="34" charset="0"/>
                <a:ea typeface="Courier New" pitchFamily="34" charset="-122"/>
                <a:cs typeface="Courier New" pitchFamily="34" charset="-120"/>
              </a:rPr>
              <a:t>13 07 §7b H2 check</a:t>
            </a:r>
            <a:endParaRPr lang="en-US" sz="1250" dirty="0"/>
          </a:p>
        </p:txBody>
      </p:sp>
      <p:sp>
        <p:nvSpPr>
          <p:cNvPr id="20" name="Shape 18"/>
          <p:cNvSpPr/>
          <p:nvPr/>
        </p:nvSpPr>
        <p:spPr>
          <a:xfrm>
            <a:off x="457200" y="5833872"/>
            <a:ext cx="11277295" cy="658368"/>
          </a:xfrm>
          <a:prstGeom prst="roundRect">
            <a:avLst>
              <a:gd name="adj" fmla="val 11111"/>
            </a:avLst>
          </a:prstGeom>
          <a:solidFill>
            <a:srgbClr val="FDF0E8"/>
          </a:solidFill>
          <a:ln w="12700">
            <a:solidFill>
              <a:srgbClr val="FDF0E8"/>
            </a:solidFill>
            <a:prstDash val="solid"/>
          </a:ln>
        </p:spPr>
      </p:sp>
      <p:sp>
        <p:nvSpPr>
          <p:cNvPr id="21" name="Text 19"/>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E8692F"/>
                </a:solidFill>
                <a:latin typeface="Calibri" pitchFamily="34" charset="0"/>
                <a:ea typeface="Calibri" pitchFamily="34" charset="-122"/>
                <a:cs typeface="Calibri" pitchFamily="34" charset="-120"/>
              </a:rPr>
              <a:t xml:space="preserve">Shape of the story:  </a:t>
            </a:r>
            <a:r>
              <a:rPr lang="en-US" sz="1400" dirty="0">
                <a:solidFill>
                  <a:srgbClr val="17212B"/>
                </a:solidFill>
                <a:latin typeface="Calibri" pitchFamily="34" charset="0"/>
                <a:ea typeface="Calibri" pitchFamily="34" charset="-122"/>
                <a:cs typeface="Calibri" pitchFamily="34" charset="-120"/>
              </a:rPr>
              <a:t>price one Selene round, feed it to the paper's model, test that against Selene's own circuit at d = 3, 5, 7, then move to physical idle noise and H2.</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b="1" dirty="0">
                <a:solidFill>
                  <a:srgbClr val="17212B"/>
                </a:solidFill>
                <a:latin typeface="Cambria" pitchFamily="34" charset="0"/>
                <a:ea typeface="Cambria" pitchFamily="34" charset="-122"/>
                <a:cs typeface="Cambria" pitchFamily="34" charset="-120"/>
              </a:rPr>
              <a:t>Selene charges operations, not time</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notebooks/noise_analysis.ipynb</a:t>
            </a:r>
            <a:endParaRPr lang="en-US" sz="1100" dirty="0"/>
          </a:p>
        </p:txBody>
      </p:sp>
      <p:sp>
        <p:nvSpPr>
          <p:cNvPr id="6" name="Text 4"/>
          <p:cNvSpPr txBox="1"/>
          <p:nvPr/>
        </p:nvSpPr>
        <p:spPr>
          <a:xfrm>
            <a:off x="457200" y="1371600"/>
            <a:ext cx="5486400" cy="274320"/>
          </a:xfrm>
          <a:prstGeom prst="rect">
            <a:avLst/>
          </a:prstGeom>
          <a:noFill/>
          <a:ln/>
        </p:spPr>
        <p:txBody>
          <a:bodyPr wrap="square" lIns="0" tIns="0" rIns="0" bIns="0" rtlCol="0" anchor="ctr"/>
          <a:lstStyle/>
          <a:p>
            <a:pPr indent="0" marL="0">
              <a:buNone/>
            </a:pPr>
            <a:r>
              <a:rPr lang="en-US" sz="1100" b="1" spc="200" kern="0" dirty="0">
                <a:solidFill>
                  <a:srgbClr val="E8692F"/>
                </a:solidFill>
                <a:latin typeface="Calibri" pitchFamily="34" charset="0"/>
                <a:ea typeface="Calibri" pitchFamily="34" charset="-122"/>
                <a:cs typeface="Calibri" pitchFamily="34" charset="-120"/>
              </a:rPr>
              <a:t>WHAT THE NOISE MODEL CAN EXPRESS</a:t>
            </a:r>
            <a:endParaRPr lang="en-US" sz="1100" dirty="0"/>
          </a:p>
        </p:txBody>
      </p:sp>
      <p:sp>
        <p:nvSpPr>
          <p:cNvPr id="7" name="Text 5"/>
          <p:cNvSpPr txBox="1"/>
          <p:nvPr/>
        </p:nvSpPr>
        <p:spPr>
          <a:xfrm>
            <a:off x="457200" y="1691640"/>
            <a:ext cx="5394960" cy="219456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Every error channel attaches to an operation: </a:t>
            </a:r>
            <a:r>
              <a:rPr lang="en-US" sz="1400" dirty="0">
                <a:solidFill>
                  <a:srgbClr val="17212B"/>
                </a:solidFill>
                <a:latin typeface="Calibri" pitchFamily="34" charset="0"/>
                <a:ea typeface="Calibri" pitchFamily="34" charset="-122"/>
                <a:cs typeface="Calibri" pitchFamily="34" charset="-120"/>
              </a:rPr>
              <a:t>p_1q, p_2q, p_meas, p_init. Durations live only in the runtime, which schedules but charges no error.</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An untouched qubit stays perfect </a:t>
            </a:r>
            <a:r>
              <a:rPr lang="en-US" sz="1400" dirty="0">
                <a:solidFill>
                  <a:srgbClr val="17212B"/>
                </a:solidFill>
                <a:latin typeface="Calibri" pitchFamily="34" charset="0"/>
                <a:ea typeface="Calibri" pitchFamily="34" charset="-122"/>
                <a:cs typeface="Calibri" pitchFamily="34" charset="-120"/>
              </a:rPr>
              <a:t>(P(flip) = 0 with the gate channels at 0.3). There is no T1, T2 or dephasing model.</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So Δt is an operation count. </a:t>
            </a:r>
            <a:r>
              <a:rPr lang="en-US" sz="1400" dirty="0">
                <a:solidFill>
                  <a:srgbClr val="17212B"/>
                </a:solidFill>
                <a:latin typeface="Calibri" pitchFamily="34" charset="0"/>
                <a:ea typeface="Calibri" pitchFamily="34" charset="-122"/>
                <a:cs typeface="Calibri" pitchFamily="34" charset="-120"/>
              </a:rPr>
              <a:t>Idling has to be inserted as explicit ops, and its rate is declared, not measured.</a:t>
            </a:r>
            <a:endParaRPr lang="en-US" sz="1400" dirty="0"/>
          </a:p>
        </p:txBody>
      </p:sp>
      <p:sp>
        <p:nvSpPr>
          <p:cNvPr id="8" name="Text 6"/>
          <p:cNvSpPr txBox="1"/>
          <p:nvPr/>
        </p:nvSpPr>
        <p:spPr>
          <a:xfrm>
            <a:off x="457200" y="3840480"/>
            <a:ext cx="5486400" cy="274320"/>
          </a:xfrm>
          <a:prstGeom prst="rect">
            <a:avLst/>
          </a:prstGeom>
          <a:noFill/>
          <a:ln/>
        </p:spPr>
        <p:txBody>
          <a:bodyPr wrap="square" lIns="0" tIns="0" rIns="0" bIns="0" rtlCol="0" anchor="ctr"/>
          <a:lstStyle/>
          <a:p>
            <a:pPr indent="0" marL="0">
              <a:buNone/>
            </a:pPr>
            <a:r>
              <a:rPr lang="en-US" sz="1100" b="1" spc="200" kern="0" dirty="0">
                <a:solidFill>
                  <a:srgbClr val="E8692F"/>
                </a:solidFill>
                <a:latin typeface="Calibri" pitchFamily="34" charset="0"/>
                <a:ea typeface="Calibri" pitchFamily="34" charset="-122"/>
                <a:cs typeface="Calibri" pitchFamily="34" charset="-120"/>
              </a:rPr>
              <a:t>WHICH IDLE UNIT SURVIVES COMPILATION?</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160520"/>
          <a:ext cx="5394960" cy="914400"/>
        </p:xfrm>
        <a:graphic>
          <a:graphicData uri="http://schemas.openxmlformats.org/drawingml/2006/table">
            <a:tbl>
              <a:tblPr/>
              <a:tblGrid>
                <a:gridCol w="2011680"/>
                <a:gridCol w="2011680"/>
                <a:gridCol w="13716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candidate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P(1), 20× at p_1q=0.05</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329184">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phased_x(0,0)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0.355</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b="1" dirty="0">
                          <a:solidFill>
                            <a:srgbClr val="1A9E77"/>
                          </a:solidFill>
                          <a:latin typeface="Calibri" pitchFamily="34" charset="0"/>
                          <a:ea typeface="Calibri" pitchFamily="34" charset="-122"/>
                          <a:cs typeface="Calibri" pitchFamily="34" charset="-120"/>
                        </a:rPr>
                        <a:t>SURVIVES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x;x / z;z / h;h</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cancelled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r>
            </a:tbl>
          </a:graphicData>
        </a:graphic>
      </p:graphicFrame>
      <p:sp>
        <p:nvSpPr>
          <p:cNvPr id="10" name="Text 7"/>
          <p:cNvSpPr txBox="1"/>
          <p:nvPr/>
        </p:nvSpPr>
        <p:spPr>
          <a:xfrm>
            <a:off x="6309360" y="1371600"/>
            <a:ext cx="5486400" cy="274320"/>
          </a:xfrm>
          <a:prstGeom prst="rect">
            <a:avLst/>
          </a:prstGeom>
          <a:noFill/>
          <a:ln/>
        </p:spPr>
        <p:txBody>
          <a:bodyPr wrap="square" lIns="0" tIns="0" rIns="0" bIns="0" rtlCol="0" anchor="ctr"/>
          <a:lstStyle/>
          <a:p>
            <a:pPr indent="0" marL="0">
              <a:buNone/>
            </a:pPr>
            <a:r>
              <a:rPr lang="en-US" sz="1100" b="1" spc="200" kern="0" dirty="0">
                <a:solidFill>
                  <a:srgbClr val="C0392B"/>
                </a:solidFill>
                <a:latin typeface="Calibri" pitchFamily="34" charset="0"/>
                <a:ea typeface="Calibri" pitchFamily="34" charset="-122"/>
                <a:cs typeface="Calibri" pitchFamily="34" charset="-120"/>
              </a:rPr>
              <a:t>THE CATCH ON A LOGICAL QUBIT</a:t>
            </a:r>
            <a:endParaRPr lang="en-US" sz="11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309360" y="1691640"/>
          <a:ext cx="5394960" cy="914400"/>
        </p:xfrm>
        <a:graphic>
          <a:graphicData uri="http://schemas.openxmlformats.org/drawingml/2006/table">
            <a:tbl>
              <a:tblPr/>
              <a:tblGrid>
                <a:gridCol w="3566160"/>
                <a:gridCol w="182880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CX-only circuit, 10 CX</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P(any 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347472">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p_1q = 0.05</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0.575</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p_2q = 0.05</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0.297</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r>
            </a:tbl>
          </a:graphicData>
        </a:graphic>
      </p:graphicFrame>
      <p:sp>
        <p:nvSpPr>
          <p:cNvPr id="12" name="Text 8"/>
          <p:cNvSpPr txBox="1"/>
          <p:nvPr/>
        </p:nvSpPr>
        <p:spPr>
          <a:xfrm>
            <a:off x="6309360" y="2880360"/>
            <a:ext cx="5394960" cy="731520"/>
          </a:xfrm>
          <a:prstGeom prst="rect">
            <a:avLst/>
          </a:prstGeom>
          <a:noFill/>
          <a:ln/>
        </p:spPr>
        <p:txBody>
          <a:bodyPr wrap="square" lIns="0" tIns="0" rIns="0" bIns="0" rtlCol="0" anchor="ctr"/>
          <a:lstStyle/>
          <a:p>
            <a:pPr indent="0" marL="0">
              <a:buNone/>
            </a:pPr>
            <a:r>
              <a:rPr lang="en-US" sz="1400" dirty="0">
                <a:solidFill>
                  <a:srgbClr val="17212B"/>
                </a:solidFill>
                <a:latin typeface="Calibri" pitchFamily="34" charset="0"/>
                <a:ea typeface="Calibri" pitchFamily="34" charset="-122"/>
                <a:cs typeface="Calibri" pitchFamily="34" charset="-120"/>
              </a:rPr>
              <a:t>A CNOT compiles to native ops that include 1q rotations charged at p_1q, the same channel idling uses. Extraction and idling share one knob.</a:t>
            </a:r>
            <a:endParaRPr lang="en-US" sz="140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6309360" y="3749040"/>
          <a:ext cx="5394960" cy="914400"/>
        </p:xfrm>
        <a:graphic>
          <a:graphicData uri="http://schemas.openxmlformats.org/drawingml/2006/table">
            <a:tbl>
              <a:tblPr/>
              <a:tblGrid>
                <a:gridCol w="1737360"/>
                <a:gridCol w="731520"/>
                <a:gridCol w="731520"/>
                <a:gridCol w="731520"/>
                <a:gridCol w="731520"/>
                <a:gridCol w="73152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Δt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329184">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idle only</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0.057</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0.062</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0.103</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0.127</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minus Δt=0 floor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0.005</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0.020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0.047</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0.070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r>
            </a:tbl>
          </a:graphicData>
        </a:graphic>
      </p:graphicFrame>
      <p:sp>
        <p:nvSpPr>
          <p:cNvPr id="14" name="Text 9"/>
          <p:cNvSpPr txBox="1"/>
          <p:nvPr/>
        </p:nvSpPr>
        <p:spPr>
          <a:xfrm>
            <a:off x="6309360" y="4800600"/>
            <a:ext cx="5394960" cy="274320"/>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Encoded-block detection-event rate, p_1q = 0.001; p_meas stays flat in Δt</a:t>
            </a:r>
            <a:endParaRPr lang="en-US" sz="1100" dirty="0"/>
          </a:p>
        </p:txBody>
      </p:sp>
      <p:sp>
        <p:nvSpPr>
          <p:cNvPr id="15" name="Shape 10"/>
          <p:cNvSpPr/>
          <p:nvPr/>
        </p:nvSpPr>
        <p:spPr>
          <a:xfrm>
            <a:off x="457200" y="5833872"/>
            <a:ext cx="11277295" cy="658368"/>
          </a:xfrm>
          <a:prstGeom prst="roundRect">
            <a:avLst>
              <a:gd name="adj" fmla="val 11111"/>
            </a:avLst>
          </a:prstGeom>
          <a:solidFill>
            <a:srgbClr val="FDF0E8"/>
          </a:solidFill>
          <a:ln w="12700">
            <a:solidFill>
              <a:srgbClr val="FDF0E8"/>
            </a:solidFill>
            <a:prstDash val="solid"/>
          </a:ln>
        </p:spPr>
      </p:sp>
      <p:sp>
        <p:nvSpPr>
          <p:cNvPr id="16" name="Text 11"/>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E8692F"/>
                </a:solidFill>
                <a:latin typeface="Calibri" pitchFamily="34" charset="0"/>
                <a:ea typeface="Calibri" pitchFamily="34" charset="-122"/>
                <a:cs typeface="Calibri" pitchFamily="34" charset="-120"/>
              </a:rPr>
              <a:t>Decision:  </a:t>
            </a:r>
            <a:r>
              <a:rPr lang="en-US" sz="1400" dirty="0">
                <a:solidFill>
                  <a:srgbClr val="17212B"/>
                </a:solidFill>
                <a:latin typeface="Calibri" pitchFamily="34" charset="0"/>
                <a:ea typeface="Calibri" pitchFamily="34" charset="-122"/>
                <a:cs typeface="Calibri" pitchFamily="34" charset="-120"/>
              </a:rPr>
              <a:t>Δt = number of phased_x(q,0,0) per data qubit, one charged op each. On an encoded block the idle cost is read differentially. The shape is measured; the calibration is declared.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b="1" dirty="0">
                <a:solidFill>
                  <a:srgbClr val="17212B"/>
                </a:solidFill>
                <a:latin typeface="Cambria" pitchFamily="34" charset="0"/>
                <a:ea typeface="Cambria" pitchFamily="34" charset="-122"/>
                <a:cs typeface="Cambria" pitchFamily="34" charset="-120"/>
              </a:rPr>
              <a:t>Does Selene carry the paper's noise model?</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notebooks/03_noise_channel_audit.ipynb</a:t>
            </a:r>
            <a:endParaRPr lang="en-US" sz="1100" dirty="0"/>
          </a:p>
        </p:txBody>
      </p:sp>
      <p:graphicFrame>
        <p:nvGraphicFramePr>
          <p:cNvPr id="6" name="Chart 0" descr=""/>
          <p:cNvGraphicFramePr/>
          <p:nvPr/>
        </p:nvGraphicFramePr>
        <p:xfrm>
          <a:off x="457200" y="1325880"/>
          <a:ext cx="5669280" cy="4297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583680" y="1371600"/>
            <a:ext cx="5120640" cy="274320"/>
          </a:xfrm>
          <a:prstGeom prst="rect">
            <a:avLst/>
          </a:prstGeom>
          <a:noFill/>
          <a:ln/>
        </p:spPr>
        <p:txBody>
          <a:bodyPr wrap="square" lIns="0" tIns="0" rIns="0" bIns="0" rtlCol="0" anchor="ctr"/>
          <a:lstStyle/>
          <a:p>
            <a:pPr indent="0" marL="0">
              <a:buNone/>
            </a:pPr>
            <a:r>
              <a:rPr lang="en-US" sz="1100" b="1" spc="200" kern="0" dirty="0">
                <a:solidFill>
                  <a:srgbClr val="E8692F"/>
                </a:solidFill>
                <a:latin typeface="Calibri" pitchFamily="34" charset="0"/>
                <a:ea typeface="Calibri" pitchFamily="34" charset="-122"/>
                <a:cs typeface="Calibri" pitchFamily="34" charset="-120"/>
              </a:rPr>
              <a:t>VERDICTS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0" y="1691640"/>
          <a:ext cx="5148072" cy="914400"/>
        </p:xfrm>
        <a:graphic>
          <a:graphicData uri="http://schemas.openxmlformats.org/drawingml/2006/table">
            <a:tbl>
              <a:tblPr/>
              <a:tblGrid>
                <a:gridCol w="2011680"/>
                <a:gridCol w="1737360"/>
                <a:gridCol w="139903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paper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Selene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384048">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data fault p(1+λΔt)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p_1q, depolarizing</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b="1" dirty="0">
                          <a:solidFill>
                            <a:srgbClr val="E8692F"/>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syndrome flip p_read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p_meas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b="1" dirty="0">
                          <a:solidFill>
                            <a:srgbClr val="1A9E77"/>
                          </a:solidFill>
                          <a:latin typeface="Calibri" pitchFamily="34" charset="0"/>
                          <a:ea typeface="Calibri" pitchFamily="34" charset="-122"/>
                          <a:cs typeface="Calibri" pitchFamily="34" charset="-120"/>
                        </a:rPr>
                        <a:t>exact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r>
              <a:tr h="384048">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propagating ancilla error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absent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5B6770"/>
                          </a:solidFill>
                          <a:latin typeface="Calibri" pitchFamily="34" charset="0"/>
                          <a:ea typeface="Calibri" pitchFamily="34" charset="-122"/>
                          <a:cs typeface="Calibri" pitchFamily="34" charset="-120"/>
                        </a:rPr>
                        <a:t>excluded by both</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6583680" y="3429000"/>
            <a:ext cx="5120640" cy="228600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Bit-flip is unreachable. </a:t>
            </a:r>
            <a:r>
              <a:rPr lang="en-US" sz="1400" dirty="0">
                <a:solidFill>
                  <a:srgbClr val="17212B"/>
                </a:solidFill>
                <a:latin typeface="Calibri" pitchFamily="34" charset="0"/>
                <a:ea typeface="Calibri" pitchFamily="34" charset="-122"/>
                <a:cs typeface="Calibri" pitchFamily="34" charset="-120"/>
              </a:rPr>
              <a:t>The X-basis rate equals the Z-basis rate, so the channel is symmetric with no bias knob.</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Substitution: </a:t>
            </a:r>
            <a:r>
              <a:rPr lang="en-US" sz="1400" dirty="0">
                <a:solidFill>
                  <a:srgbClr val="17212B"/>
                </a:solidFill>
                <a:latin typeface="Calibri" pitchFamily="34" charset="0"/>
                <a:ea typeface="Calibri" pitchFamily="34" charset="-122"/>
                <a:cs typeface="Calibri" pitchFamily="34" charset="-120"/>
              </a:rPr>
              <a:t>for Z-checks only, depolarizing at p acts as bit-flip at 2p/3.</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h costs 2 charged ops. </a:t>
            </a:r>
            <a:r>
              <a:rPr lang="en-US" sz="1400" dirty="0">
                <a:solidFill>
                  <a:srgbClr val="17212B"/>
                </a:solidFill>
                <a:latin typeface="Calibri" pitchFamily="34" charset="0"/>
                <a:ea typeface="Calibri" pitchFamily="34" charset="-122"/>
                <a:cs typeface="Calibri" pitchFamily="34" charset="-120"/>
              </a:rPr>
              <a:t>Source gate counts are not charged-op counts.</a:t>
            </a:r>
            <a:endParaRPr lang="en-US" sz="1400" dirty="0"/>
          </a:p>
        </p:txBody>
      </p:sp>
      <p:sp>
        <p:nvSpPr>
          <p:cNvPr id="10" name="Shape 6"/>
          <p:cNvSpPr/>
          <p:nvPr/>
        </p:nvSpPr>
        <p:spPr>
          <a:xfrm>
            <a:off x="457200" y="5833872"/>
            <a:ext cx="11277295" cy="658368"/>
          </a:xfrm>
          <a:prstGeom prst="roundRect">
            <a:avLst>
              <a:gd name="adj" fmla="val 11111"/>
            </a:avLst>
          </a:prstGeom>
          <a:solidFill>
            <a:srgbClr val="FDF0E8"/>
          </a:solidFill>
          <a:ln w="12700">
            <a:solidFill>
              <a:srgbClr val="FDF0E8"/>
            </a:solidFill>
            <a:prstDash val="solid"/>
          </a:ln>
        </p:spPr>
      </p:sp>
      <p:sp>
        <p:nvSpPr>
          <p:cNvPr id="11" name="Text 7"/>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E8692F"/>
                </a:solidFill>
                <a:latin typeface="Calibri" pitchFamily="34" charset="0"/>
                <a:ea typeface="Calibri" pitchFamily="34" charset="-122"/>
                <a:cs typeface="Calibri" pitchFamily="34" charset="-120"/>
              </a:rPr>
              <a:t>Division of labour:  </a:t>
            </a:r>
            <a:r>
              <a:rPr lang="en-US" sz="1400" dirty="0">
                <a:solidFill>
                  <a:srgbClr val="17212B"/>
                </a:solidFill>
                <a:latin typeface="Calibri" pitchFamily="34" charset="0"/>
                <a:ea typeface="Calibri" pitchFamily="34" charset="-122"/>
                <a:cs typeface="Calibri" pitchFamily="34" charset="-120"/>
              </a:rPr>
              <a:t>Stim for anything that needs the paper's noise model. Selene for real extraction circuits, control flow and leakage heralds. Next: measure p_stab.</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b="1" dirty="0">
                <a:solidFill>
                  <a:srgbClr val="17212B"/>
                </a:solidFill>
                <a:latin typeface="Cambria" pitchFamily="34" charset="0"/>
                <a:ea typeface="Cambria" pitchFamily="34" charset="-122"/>
                <a:cs typeface="Cambria" pitchFamily="34" charset="-120"/>
              </a:rPr>
              <a:t>What does one surface-code round cost the data?</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notebooks/04_extraction_cost_surface.ipynb</a:t>
            </a:r>
            <a:endParaRPr lang="en-US" sz="1100" dirty="0"/>
          </a:p>
        </p:txBody>
      </p:sp>
      <p:graphicFrame>
        <p:nvGraphicFramePr>
          <p:cNvPr id="6" name="Chart 0" descr=""/>
          <p:cNvGraphicFramePr/>
          <p:nvPr/>
        </p:nvGraphicFramePr>
        <p:xfrm>
          <a:off x="457200" y="1280160"/>
          <a:ext cx="7498080" cy="3108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434840"/>
            <a:ext cx="7498080" cy="548640"/>
          </a:xfrm>
          <a:prstGeom prst="rect">
            <a:avLst/>
          </a:prstGeom>
          <a:noFill/>
          <a:ln/>
        </p:spPr>
        <p:txBody>
          <a:bodyPr wrap="square" lIns="0" tIns="0" rIns="0" bIns="0" rtlCol="0" anchor="ctr"/>
          <a:lstStyle/>
          <a:p>
            <a:pPr indent="0" marL="0">
              <a:buNone/>
            </a:pPr>
            <a:r>
              <a:rPr lang="en-US" sz="1200" dirty="0">
                <a:solidFill>
                  <a:srgbClr val="5B6770"/>
                </a:solidFill>
                <a:latin typeface="Calibri" pitchFamily="34" charset="0"/>
                <a:ea typeface="Calibri" pitchFamily="34" charset="-122"/>
                <a:cs typeface="Calibri" pitchFamily="34" charset="-120"/>
              </a:rPr>
              <a:t>Proxy: |0⟩ⁿ through both sectors with the H removed from X-ancillas, so the round is logically inert but every CNOT is charged. X-ancilla faults still reach the data: X_c·CNOT = CNOT·X_c X_t.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983480"/>
          <a:ext cx="4937760" cy="914400"/>
        </p:xfrm>
        <a:graphic>
          <a:graphicData uri="http://schemas.openxmlformats.org/drawingml/2006/table">
            <a:tbl>
              <a:tblPr/>
              <a:tblGrid>
                <a:gridCol w="3291840"/>
                <a:gridCol w="1645920"/>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CNOT end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charged ops per CX</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274320">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control (data in a Z-check)</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1.44</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274320">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target (data in an X-check)</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3.86</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EEF2F5"/>
                    </a:solidFill>
                  </a:tcPr>
                </a:tc>
              </a:tr>
            </a:tbl>
          </a:graphicData>
        </a:graphic>
      </p:graphicFrame>
      <p:sp>
        <p:nvSpPr>
          <p:cNvPr id="9" name="Text 5"/>
          <p:cNvSpPr txBox="1"/>
          <p:nvPr/>
        </p:nvSpPr>
        <p:spPr>
          <a:xfrm>
            <a:off x="8321040" y="1325880"/>
            <a:ext cx="3429000" cy="731520"/>
          </a:xfrm>
          <a:prstGeom prst="rect">
            <a:avLst/>
          </a:prstGeom>
          <a:noFill/>
          <a:ln/>
        </p:spPr>
        <p:txBody>
          <a:bodyPr wrap="square" lIns="0" tIns="0" rIns="0" bIns="0" rtlCol="0" anchor="ctr"/>
          <a:lstStyle/>
          <a:p>
            <a:pPr indent="0" marL="0">
              <a:buNone/>
            </a:pPr>
            <a:r>
              <a:rPr lang="en-US" sz="4000" b="1" dirty="0">
                <a:solidFill>
                  <a:srgbClr val="E8692F"/>
                </a:solidFill>
                <a:latin typeface="Cambria" pitchFamily="34" charset="0"/>
                <a:ea typeface="Cambria" pitchFamily="34" charset="-122"/>
                <a:cs typeface="Cambria" pitchFamily="34" charset="-120"/>
              </a:rPr>
              <a:t>3×</a:t>
            </a:r>
            <a:endParaRPr lang="en-US" sz="4000" dirty="0"/>
          </a:p>
        </p:txBody>
      </p:sp>
      <p:sp>
        <p:nvSpPr>
          <p:cNvPr id="10" name="Text 6"/>
          <p:cNvSpPr txBox="1"/>
          <p:nvPr/>
        </p:nvSpPr>
        <p:spPr>
          <a:xfrm>
            <a:off x="8321040" y="2057400"/>
            <a:ext cx="342900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spread of p_stab across the block. It follows which end of each CNOT a qubit sits on, not its CX count.</a:t>
            </a:r>
            <a:endParaRPr lang="en-US" sz="1200" dirty="0"/>
          </a:p>
        </p:txBody>
      </p:sp>
      <p:sp>
        <p:nvSpPr>
          <p:cNvPr id="11" name="Text 7"/>
          <p:cNvSpPr txBox="1"/>
          <p:nvPr/>
        </p:nvSpPr>
        <p:spPr>
          <a:xfrm>
            <a:off x="8321040" y="2834640"/>
            <a:ext cx="3429000" cy="283464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λ = 1/n_data: </a:t>
            </a:r>
            <a:r>
              <a:rPr lang="en-US" sz="1400" dirty="0">
                <a:solidFill>
                  <a:srgbClr val="17212B"/>
                </a:solidFill>
                <a:latin typeface="Calibri" pitchFamily="34" charset="0"/>
                <a:ea typeface="Calibri" pitchFamily="34" charset="-122"/>
                <a:cs typeface="Calibri" pitchFamily="34" charset="-120"/>
              </a:rPr>
              <a:t>0.10–0.15 (paper: 0.31)</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b_read floor: </a:t>
            </a:r>
            <a:r>
              <a:rPr lang="en-US" sz="1400" dirty="0">
                <a:solidFill>
                  <a:srgbClr val="17212B"/>
                </a:solidFill>
                <a:latin typeface="Calibri" pitchFamily="34" charset="0"/>
                <a:ea typeface="Calibri" pitchFamily="34" charset="-122"/>
                <a:cs typeface="Calibri" pitchFamily="34" charset="-120"/>
              </a:rPr>
              <a:t>1.15–1.31 (paper: 1)</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No round-stacking: </a:t>
            </a:r>
            <a:r>
              <a:rPr lang="en-US" sz="1400" dirty="0">
                <a:solidFill>
                  <a:srgbClr val="17212B"/>
                </a:solidFill>
                <a:latin typeface="Calibri" pitchFamily="34" charset="0"/>
                <a:ea typeface="Calibri" pitchFamily="34" charset="-122"/>
                <a:cs typeface="Calibri" pitchFamily="34" charset="-120"/>
              </a:rPr>
              <a:t>a first round and a marginal round agree within 8%.</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Zero intercept </a:t>
            </a:r>
            <a:r>
              <a:rPr lang="en-US" sz="1400" dirty="0">
                <a:solidFill>
                  <a:srgbClr val="17212B"/>
                </a:solidFill>
                <a:latin typeface="Calibri" pitchFamily="34" charset="0"/>
                <a:ea typeface="Calibri" pitchFamily="34" charset="-122"/>
                <a:cs typeface="Calibri" pitchFamily="34" charset="-120"/>
              </a:rPr>
              <a:t>in N: the round is the only contributor.</a:t>
            </a:r>
            <a:endParaRPr lang="en-US" sz="1400" dirty="0"/>
          </a:p>
        </p:txBody>
      </p:sp>
      <p:sp>
        <p:nvSpPr>
          <p:cNvPr id="12" name="Shape 8"/>
          <p:cNvSpPr/>
          <p:nvPr/>
        </p:nvSpPr>
        <p:spPr>
          <a:xfrm>
            <a:off x="457200" y="5833872"/>
            <a:ext cx="11277295" cy="658368"/>
          </a:xfrm>
          <a:prstGeom prst="roundRect">
            <a:avLst>
              <a:gd name="adj" fmla="val 11111"/>
            </a:avLst>
          </a:prstGeom>
          <a:solidFill>
            <a:srgbClr val="FDF0E8"/>
          </a:solidFill>
          <a:ln w="12700">
            <a:solidFill>
              <a:srgbClr val="FDF0E8"/>
            </a:solidFill>
            <a:prstDash val="solid"/>
          </a:ln>
        </p:spPr>
      </p:sp>
      <p:sp>
        <p:nvSpPr>
          <p:cNvPr id="13" name="Text 9"/>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E8692F"/>
                </a:solidFill>
                <a:latin typeface="Calibri" pitchFamily="34" charset="0"/>
                <a:ea typeface="Calibri" pitchFamily="34" charset="-122"/>
                <a:cs typeface="Calibri" pitchFamily="34" charset="-120"/>
              </a:rPr>
              <a:t>Consequence:  </a:t>
            </a:r>
            <a:r>
              <a:rPr lang="en-US" sz="1400" dirty="0">
                <a:solidFill>
                  <a:srgbClr val="17212B"/>
                </a:solidFill>
                <a:latin typeface="Calibri" pitchFamily="34" charset="0"/>
                <a:ea typeface="Calibri" pitchFamily="34" charset="-122"/>
                <a:cs typeface="Calibri" pitchFamily="34" charset="-120"/>
              </a:rPr>
              <a:t>λ and b_read are fixed by the circuit, not free. Both sit on the "measure less often" side of the paper's values.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b="1" dirty="0">
                <a:solidFill>
                  <a:srgbClr val="17212B"/>
                </a:solidFill>
                <a:latin typeface="Cambria" pitchFamily="34" charset="0"/>
                <a:ea typeface="Cambria" pitchFamily="34" charset="-122"/>
                <a:cs typeface="Cambria" pitchFamily="34" charset="-120"/>
              </a:rPr>
              <a:t>What does p_2q add, and what does it do to λ?</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notebooks/04c_extraction_cost_p2q.ipynb</a:t>
            </a:r>
            <a:endParaRPr lang="en-US" sz="1100" dirty="0"/>
          </a:p>
        </p:txBody>
      </p:sp>
      <p:sp>
        <p:nvSpPr>
          <p:cNvPr id="6" name="Shape 4"/>
          <p:cNvSpPr/>
          <p:nvPr/>
        </p:nvSpPr>
        <p:spPr>
          <a:xfrm>
            <a:off x="457200" y="1325880"/>
            <a:ext cx="11274552" cy="685800"/>
          </a:xfrm>
          <a:prstGeom prst="roundRect">
            <a:avLst>
              <a:gd name="adj" fmla="val 10667"/>
            </a:avLst>
          </a:prstGeom>
          <a:solidFill>
            <a:srgbClr val="EEF2F5"/>
          </a:solidFill>
          <a:ln w="12700">
            <a:solidFill>
              <a:srgbClr val="EEF2F5"/>
            </a:solidFill>
            <a:prstDash val="solid"/>
          </a:ln>
        </p:spPr>
      </p:sp>
      <p:sp>
        <p:nvSpPr>
          <p:cNvPr id="7" name="Text 5"/>
          <p:cNvSpPr txBox="1"/>
          <p:nvPr/>
        </p:nvSpPr>
        <p:spPr>
          <a:xfrm>
            <a:off x="685800" y="1325880"/>
            <a:ext cx="10972800" cy="685800"/>
          </a:xfrm>
          <a:prstGeom prst="rect">
            <a:avLst/>
          </a:prstGeom>
          <a:noFill/>
          <a:ln/>
        </p:spPr>
        <p:txBody>
          <a:bodyPr wrap="square" lIns="0" tIns="0" rIns="0" bIns="0" rtlCol="0" anchor="ctr"/>
          <a:lstStyle/>
          <a:p>
            <a:pPr indent="0" marL="0">
              <a:buNone/>
            </a:pPr>
            <a:r>
              <a:rPr lang="en-US" sz="1800" b="1" dirty="0">
                <a:solidFill>
                  <a:srgbClr val="1F3A4D"/>
                </a:solidFill>
                <a:latin typeface="Courier New" pitchFamily="34" charset="0"/>
                <a:ea typeface="Courier New" pitchFamily="34" charset="-122"/>
                <a:cs typeface="Courier New" pitchFamily="34" charset="-120"/>
              </a:rPr>
              <a:t>λ(ρ, k) = k / (n₁ + 0.8·ρ·n₂)</a:t>
            </a:r>
            <a:r>
              <a:rPr lang="en-US" sz="1300" dirty="0">
                <a:solidFill>
                  <a:srgbClr val="5B6770"/>
                </a:solidFill>
                <a:latin typeface="Calibri" pitchFamily="34" charset="0"/>
                <a:ea typeface="Calibri" pitchFamily="34" charset="-122"/>
                <a:cs typeface="Calibri" pitchFamily="34" charset="-120"/>
              </a:rPr>
              <a:t>     ρ = p_2q/p_1q · k = idle ops per Δt unit · n₁, n₂ = 1q ops and Rzz events per round</a:t>
            </a:r>
            <a:endParaRPr lang="en-US" sz="1800" dirty="0"/>
          </a:p>
        </p:txBody>
      </p:sp>
      <p:pic>
        <p:nvPicPr>
          <p:cNvPr id="8" name="Image 0" descr="/home/harshit-verma/Desktop/Quanti/noise_qec/notebooks/figures/04c_p2q_a_lambda_vs_rho.png">    </p:cNvPr>
          <p:cNvPicPr>
            <a:picLocks noChangeAspect="1"/>
          </p:cNvPicPr>
          <p:nvPr/>
        </p:nvPicPr>
        <p:blipFill>
          <a:blip r:embed="rId1"/>
          <a:stretch>
            <a:fillRect/>
          </a:stretch>
        </p:blipFill>
        <p:spPr>
          <a:xfrm>
            <a:off x="457200" y="2194560"/>
            <a:ext cx="7498080" cy="2694817"/>
          </a:xfrm>
          <a:prstGeom prst="rect">
            <a:avLst/>
          </a:prstGeom>
        </p:spPr>
      </p:pic>
      <p:sp>
        <p:nvSpPr>
          <p:cNvPr id="9" name="Text 6"/>
          <p:cNvSpPr txBox="1"/>
          <p:nvPr/>
        </p:nvSpPr>
        <p:spPr>
          <a:xfrm>
            <a:off x="8321040" y="2148840"/>
            <a:ext cx="3429000" cy="731520"/>
          </a:xfrm>
          <a:prstGeom prst="rect">
            <a:avLst/>
          </a:prstGeom>
          <a:noFill/>
          <a:ln/>
        </p:spPr>
        <p:txBody>
          <a:bodyPr wrap="square" lIns="0" tIns="0" rIns="0" bIns="0" rtlCol="0" anchor="ctr"/>
          <a:lstStyle/>
          <a:p>
            <a:pPr indent="0" marL="0">
              <a:buNone/>
            </a:pPr>
            <a:r>
              <a:rPr lang="en-US" sz="4000" b="1" dirty="0">
                <a:solidFill>
                  <a:srgbClr val="E8692F"/>
                </a:solidFill>
                <a:latin typeface="Cambria" pitchFamily="34" charset="0"/>
                <a:ea typeface="Cambria" pitchFamily="34" charset="-122"/>
                <a:cs typeface="Cambria" pitchFamily="34" charset="-120"/>
              </a:rPr>
              <a:t>1.5–1.7×</a:t>
            </a:r>
            <a:endParaRPr lang="en-US" sz="4000" dirty="0"/>
          </a:p>
        </p:txBody>
      </p:sp>
      <p:sp>
        <p:nvSpPr>
          <p:cNvPr id="10" name="Text 7"/>
          <p:cNvSpPr txBox="1"/>
          <p:nvPr/>
        </p:nvSpPr>
        <p:spPr>
          <a:xfrm>
            <a:off x="8321040" y="2880360"/>
            <a:ext cx="342900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n₂ vs the qubit's own Rzz count. The excess is ancilla faults copied onto data (the hook mechanism).</a:t>
            </a:r>
            <a:endParaRPr lang="en-US" sz="1200" dirty="0"/>
          </a:p>
        </p:txBody>
      </p:sp>
      <p:sp>
        <p:nvSpPr>
          <p:cNvPr id="11" name="Text 8"/>
          <p:cNvSpPr txBox="1"/>
          <p:nvPr/>
        </p:nvSpPr>
        <p:spPr>
          <a:xfrm>
            <a:off x="8321040" y="3611880"/>
            <a:ext cx="3429000" cy="210312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λ is capped at ρ = 0 </a:t>
            </a:r>
            <a:r>
              <a:rPr lang="en-US" sz="1400" dirty="0">
                <a:solidFill>
                  <a:srgbClr val="17212B"/>
                </a:solidFill>
                <a:latin typeface="Calibri" pitchFamily="34" charset="0"/>
                <a:ea typeface="Calibri" pitchFamily="34" charset="-122"/>
                <a:cs typeface="Calibri" pitchFamily="34" charset="-120"/>
              </a:rPr>
              <a:t>(0.10–0.15). p_2q only lowers it.</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Paper's 0.31 needs k &gt; 1: </a:t>
            </a:r>
            <a:r>
              <a:rPr lang="en-US" sz="1400" dirty="0">
                <a:solidFill>
                  <a:srgbClr val="17212B"/>
                </a:solidFill>
                <a:latin typeface="Calibri" pitchFamily="34" charset="0"/>
                <a:ea typeface="Calibri" pitchFamily="34" charset="-122"/>
                <a:cs typeface="Calibri" pitchFamily="34" charset="-120"/>
              </a:rPr>
              <a:t>k ≈ 2–3 at ρ=0, 12–19 at ρ=10.</a:t>
            </a:r>
            <a:endParaRPr lang="en-US" sz="1400" dirty="0"/>
          </a:p>
          <a:p>
            <a:pPr marL="203200" indent="-203200">
              <a:spcAft>
                <a:spcPts val="800"/>
              </a:spcAft>
              <a:buSzPct val="100000"/>
              <a:buChar char="•"/>
            </a:pPr>
            <a:r>
              <a:rPr lang="en-US" sz="1400" b="1" dirty="0">
                <a:solidFill>
                  <a:srgbClr val="17212B"/>
                </a:solidFill>
                <a:latin typeface="Calibri" pitchFamily="34" charset="0"/>
                <a:ea typeface="Calibri" pitchFamily="34" charset="-122"/>
                <a:cs typeface="Calibri" pitchFamily="34" charset="-120"/>
              </a:rPr>
              <a:t>Validated: </a:t>
            </a:r>
            <a:r>
              <a:rPr lang="en-US" sz="1400" dirty="0">
                <a:solidFill>
                  <a:srgbClr val="17212B"/>
                </a:solidFill>
                <a:latin typeface="Calibri" pitchFamily="34" charset="0"/>
                <a:ea typeface="Calibri" pitchFamily="34" charset="-122"/>
                <a:cs typeface="Calibri" pitchFamily="34" charset="-120"/>
              </a:rPr>
              <a:t>circuit with real idle ops matches λ to 3%.</a:t>
            </a:r>
            <a:endParaRPr lang="en-US" sz="1400" dirty="0"/>
          </a:p>
        </p:txBody>
      </p:sp>
      <p:sp>
        <p:nvSpPr>
          <p:cNvPr id="12" name="Shape 9"/>
          <p:cNvSpPr/>
          <p:nvPr/>
        </p:nvSpPr>
        <p:spPr>
          <a:xfrm>
            <a:off x="457200" y="5833872"/>
            <a:ext cx="11277295" cy="658368"/>
          </a:xfrm>
          <a:prstGeom prst="roundRect">
            <a:avLst>
              <a:gd name="adj" fmla="val 11111"/>
            </a:avLst>
          </a:prstGeom>
          <a:solidFill>
            <a:srgbClr val="FDF0E8"/>
          </a:solidFill>
          <a:ln w="12700">
            <a:solidFill>
              <a:srgbClr val="FDF0E8"/>
            </a:solidFill>
            <a:prstDash val="solid"/>
          </a:ln>
        </p:spPr>
      </p:sp>
      <p:sp>
        <p:nvSpPr>
          <p:cNvPr id="13" name="Text 10"/>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E8692F"/>
                </a:solidFill>
                <a:latin typeface="Calibri" pitchFamily="34" charset="0"/>
                <a:ea typeface="Calibri" pitchFamily="34" charset="-122"/>
                <a:cs typeface="Calibri" pitchFamily="34" charset="-120"/>
              </a:rPr>
              <a:t>Meaning:  </a:t>
            </a:r>
            <a:r>
              <a:rPr lang="en-US" sz="1400" dirty="0">
                <a:solidFill>
                  <a:srgbClr val="17212B"/>
                </a:solidFill>
                <a:latin typeface="Calibri" pitchFamily="34" charset="0"/>
                <a:ea typeface="Calibri" pitchFamily="34" charset="-122"/>
                <a:cs typeface="Calibri" pitchFamily="34" charset="-120"/>
              </a:rPr>
              <a:t>the gate ratio cannot supply the paper's λ. The idle unit must, which is physically right because λ is T1/T2 per cycle. b_read = 1 corresponds to ρ ≈ 1.</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6</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b="1" dirty="0">
                <a:solidFill>
                  <a:srgbClr val="17212B"/>
                </a:solidFill>
                <a:latin typeface="Cambria" pitchFamily="34" charset="0"/>
                <a:ea typeface="Cambria" pitchFamily="34" charset="-122"/>
                <a:cs typeface="Cambria" pitchFamily="34" charset="-120"/>
              </a:rPr>
              <a:t>Is there an optimum in the paper's own model? (Stim)</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notebooks/05_surface_code_interval.ipynb</a:t>
            </a:r>
            <a:endParaRPr lang="en-US" sz="1100" dirty="0"/>
          </a:p>
        </p:txBody>
      </p:sp>
      <p:sp>
        <p:nvSpPr>
          <p:cNvPr id="6" name="Shape 4"/>
          <p:cNvSpPr/>
          <p:nvPr/>
        </p:nvSpPr>
        <p:spPr>
          <a:xfrm>
            <a:off x="457200" y="1325880"/>
            <a:ext cx="11274552" cy="640080"/>
          </a:xfrm>
          <a:prstGeom prst="roundRect">
            <a:avLst>
              <a:gd name="adj" fmla="val 11429"/>
            </a:avLst>
          </a:prstGeom>
          <a:solidFill>
            <a:srgbClr val="FDF0E8"/>
          </a:solidFill>
          <a:ln w="12700">
            <a:solidFill>
              <a:srgbClr val="FDF0E8"/>
            </a:solidFill>
            <a:prstDash val="solid"/>
          </a:ln>
        </p:spPr>
      </p:sp>
      <p:sp>
        <p:nvSpPr>
          <p:cNvPr id="7" name="Text 5"/>
          <p:cNvSpPr txBox="1"/>
          <p:nvPr/>
        </p:nvSpPr>
        <p:spPr>
          <a:xfrm>
            <a:off x="685800" y="1325880"/>
            <a:ext cx="10881360" cy="640080"/>
          </a:xfrm>
          <a:prstGeom prst="rect">
            <a:avLst/>
          </a:prstGeom>
          <a:noFill/>
          <a:ln/>
        </p:spPr>
        <p:txBody>
          <a:bodyPr wrap="square" lIns="0" tIns="0" rIns="0" bIns="0" rtlCol="0" anchor="ctr"/>
          <a:lstStyle/>
          <a:p>
            <a:pPr indent="0" marL="0">
              <a:buNone/>
            </a:pPr>
            <a:r>
              <a:rPr lang="en-US" sz="1400" dirty="0">
                <a:solidFill>
                  <a:srgbClr val="17212B"/>
                </a:solidFill>
                <a:latin typeface="Calibri" pitchFamily="34" charset="0"/>
                <a:ea typeface="Calibri" pitchFamily="34" charset="-122"/>
                <a:cs typeface="Calibri" pitchFamily="34" charset="-120"/>
              </a:rPr>
              <a:t>The paper's model in Stim, twice: with the paper's λ = 0.31 and b_read = 1, and with λ and b_read calibrated from one Selene round (04).</a:t>
            </a:r>
            <a:endParaRPr lang="en-US" sz="1400" dirty="0"/>
          </a:p>
        </p:txBody>
      </p:sp>
      <p:pic>
        <p:nvPicPr>
          <p:cNvPr id="8" name="Image 0" descr="/tmp/claude-1000/-home-harshit-verma-Desktop-Quanti/fb6e1d79-8064-4519-a08c-dc51ae9da1bd/scratchpad/img/05_1.png">    </p:cNvPr>
          <p:cNvPicPr>
            <a:picLocks noChangeAspect="1"/>
          </p:cNvPicPr>
          <p:nvPr/>
        </p:nvPicPr>
        <p:blipFill>
          <a:blip r:embed="rId1"/>
          <a:stretch>
            <a:fillRect/>
          </a:stretch>
        </p:blipFill>
        <p:spPr>
          <a:xfrm>
            <a:off x="458550" y="2148840"/>
            <a:ext cx="7586818" cy="2587752"/>
          </a:xfrm>
          <a:prstGeom prst="rect">
            <a:avLst/>
          </a:prstGeom>
        </p:spPr>
      </p:pic>
      <p:sp>
        <p:nvSpPr>
          <p:cNvPr id="9" name="Text 6"/>
          <p:cNvSpPr txBox="1"/>
          <p:nvPr/>
        </p:nvSpPr>
        <p:spPr>
          <a:xfrm>
            <a:off x="457200" y="4800600"/>
            <a:ext cx="7589520" cy="457200"/>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Fixed T = 96, N = T/Δt ≥ d, p = 0.01, 3 × 100k shots per point. Dotted: paper parameters. Solid: calibrated.</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412480" y="2194560"/>
          <a:ext cx="3319272" cy="914400"/>
        </p:xfrm>
        <a:graphic>
          <a:graphicData uri="http://schemas.openxmlformats.org/drawingml/2006/table">
            <a:tbl>
              <a:tblPr/>
              <a:tblGrid>
                <a:gridCol w="1399032"/>
                <a:gridCol w="640080"/>
                <a:gridCol w="640080"/>
                <a:gridCol w="6400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Δt*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d3</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d5</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d7</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329184">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rot, paper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rot, calibrated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16.6</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unrot, paper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unrot, calibrated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16.0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8412480" y="4069080"/>
            <a:ext cx="3337560" cy="146304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λ does it: </a:t>
            </a:r>
            <a:r>
              <a:rPr lang="en-US" sz="1300" dirty="0">
                <a:solidFill>
                  <a:srgbClr val="17212B"/>
                </a:solidFill>
                <a:latin typeface="Calibri" pitchFamily="34" charset="0"/>
                <a:ea typeface="Calibri" pitchFamily="34" charset="-122"/>
                <a:cs typeface="Calibri" pitchFamily="34" charset="-120"/>
              </a:rPr>
              <a:t>λ alone moves Δt* 2.2–3.2×, within 5% of Eq. 6's 0.31/λ.</a:t>
            </a:r>
            <a:endParaRPr lang="en-US" sz="1300" dirty="0"/>
          </a:p>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Control: </a:t>
            </a:r>
            <a:r>
              <a:rPr lang="en-US" sz="1300" dirty="0">
                <a:solidFill>
                  <a:srgbClr val="17212B"/>
                </a:solidFill>
                <a:latin typeface="Calibri" pitchFamily="34" charset="0"/>
                <a:ea typeface="Calibri" pitchFamily="34" charset="-122"/>
                <a:cs typeface="Calibri" pitchFamily="34" charset="-120"/>
              </a:rPr>
              <a:t>with p_stab off there is no interior optimum.</a:t>
            </a:r>
            <a:endParaRPr lang="en-US" sz="1300" dirty="0"/>
          </a:p>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 </a:t>
            </a:r>
            <a:r>
              <a:rPr lang="en-US" sz="1300" dirty="0">
                <a:solidFill>
                  <a:srgbClr val="17212B"/>
                </a:solidFill>
                <a:latin typeface="Calibri" pitchFamily="34" charset="0"/>
                <a:ea typeface="Calibri" pitchFamily="34" charset="-122"/>
                <a:cs typeface="Calibri" pitchFamily="34" charset="-120"/>
              </a:rPr>
              <a:t>decoder weight tie; decoder-sensitive.</a:t>
            </a:r>
            <a:endParaRPr lang="en-US" sz="1300" dirty="0"/>
          </a:p>
        </p:txBody>
      </p:sp>
      <p:sp>
        <p:nvSpPr>
          <p:cNvPr id="12" name="Shape 8"/>
          <p:cNvSpPr/>
          <p:nvPr/>
        </p:nvSpPr>
        <p:spPr>
          <a:xfrm>
            <a:off x="457200" y="5833872"/>
            <a:ext cx="11277295" cy="658368"/>
          </a:xfrm>
          <a:prstGeom prst="roundRect">
            <a:avLst>
              <a:gd name="adj" fmla="val 11111"/>
            </a:avLst>
          </a:prstGeom>
          <a:solidFill>
            <a:srgbClr val="E6F4EF"/>
          </a:solidFill>
          <a:ln w="12700">
            <a:solidFill>
              <a:srgbClr val="E6F4EF"/>
            </a:solidFill>
            <a:prstDash val="solid"/>
          </a:ln>
        </p:spPr>
      </p:sp>
      <p:sp>
        <p:nvSpPr>
          <p:cNvPr id="13" name="Text 9"/>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1A9E77"/>
                </a:solidFill>
                <a:latin typeface="Calibri" pitchFamily="34" charset="0"/>
                <a:ea typeface="Calibri" pitchFamily="34" charset="-122"/>
                <a:cs typeface="Calibri" pitchFamily="34" charset="-120"/>
              </a:rPr>
              <a:t xml:space="preserve">Result:  </a:t>
            </a:r>
            <a:r>
              <a:rPr lang="en-US" sz="1400" dirty="0">
                <a:solidFill>
                  <a:srgbClr val="17212B"/>
                </a:solidFill>
                <a:latin typeface="Calibri" pitchFamily="34" charset="0"/>
                <a:ea typeface="Calibri" pitchFamily="34" charset="-122"/>
                <a:cs typeface="Calibri" pitchFamily="34" charset="-120"/>
              </a:rPr>
              <a:t>calibrated idling is 2–3× cheaper than the paper assumes, so the optimum is 2.6–3× longer. Still phenomenological: no faults inside the round.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Σ</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b="1" dirty="0">
                <a:solidFill>
                  <a:srgbClr val="17212B"/>
                </a:solidFill>
                <a:latin typeface="Cambria" pitchFamily="34" charset="0"/>
                <a:ea typeface="Cambria" pitchFamily="34" charset="-122"/>
                <a:cs typeface="Cambria" pitchFamily="34" charset="-120"/>
              </a:rPr>
              <a:t>Where the arc stands</a:t>
            </a:r>
            <a:endParaRPr lang="en-US" sz="2800" dirty="0"/>
          </a:p>
        </p:txBody>
      </p:sp>
      <p:sp>
        <p:nvSpPr>
          <p:cNvPr id="5" name="Shape 3"/>
          <p:cNvSpPr/>
          <p:nvPr/>
        </p:nvSpPr>
        <p:spPr>
          <a:xfrm>
            <a:off x="457200" y="1280160"/>
            <a:ext cx="3611880" cy="5212080"/>
          </a:xfrm>
          <a:prstGeom prst="roundRect">
            <a:avLst>
              <a:gd name="adj" fmla="val 2532"/>
            </a:avLst>
          </a:prstGeom>
          <a:solidFill>
            <a:srgbClr val="E6F4EF"/>
          </a:solidFill>
          <a:ln w="12700">
            <a:solidFill>
              <a:srgbClr val="E6F4EF"/>
            </a:solidFill>
            <a:prstDash val="solid"/>
          </a:ln>
        </p:spPr>
      </p:sp>
      <p:sp>
        <p:nvSpPr>
          <p:cNvPr id="6" name="Text 4"/>
          <p:cNvSpPr txBox="1"/>
          <p:nvPr/>
        </p:nvSpPr>
        <p:spPr>
          <a:xfrm>
            <a:off x="685800" y="1463040"/>
            <a:ext cx="3154680" cy="457200"/>
          </a:xfrm>
          <a:prstGeom prst="rect">
            <a:avLst/>
          </a:prstGeom>
          <a:noFill/>
          <a:ln/>
        </p:spPr>
        <p:txBody>
          <a:bodyPr wrap="square" lIns="0" tIns="0" rIns="0" bIns="0" rtlCol="0" anchor="ctr"/>
          <a:lstStyle/>
          <a:p>
            <a:pPr indent="0" marL="0">
              <a:buNone/>
            </a:pPr>
            <a:r>
              <a:rPr lang="en-US" sz="1900" b="1" dirty="0">
                <a:solidFill>
                  <a:srgbClr val="1A9E77"/>
                </a:solidFill>
                <a:latin typeface="Cambria" pitchFamily="34" charset="0"/>
                <a:ea typeface="Cambria" pitchFamily="34" charset="-122"/>
                <a:cs typeface="Cambria" pitchFamily="34" charset="-120"/>
              </a:rPr>
              <a:t>Established</a:t>
            </a:r>
            <a:endParaRPr lang="en-US" sz="1900" dirty="0"/>
          </a:p>
        </p:txBody>
      </p:sp>
      <p:sp>
        <p:nvSpPr>
          <p:cNvPr id="7" name="Text 5"/>
          <p:cNvSpPr txBox="1"/>
          <p:nvPr/>
        </p:nvSpPr>
        <p:spPr>
          <a:xfrm>
            <a:off x="685800" y="2103120"/>
            <a:ext cx="3154680" cy="4206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Interior Δt* under Selene's native noise at d = 3, 5, 7 (fixed T, full error-model decoder).</a:t>
            </a:r>
            <a:endParaRPr lang="en-US" sz="1600" dirty="0"/>
          </a:p>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The paper's model, calibrated from the circuit, predicts Δt* within 1.7σ at every d.</a:t>
            </a:r>
            <a:endParaRPr lang="en-US" sz="1600" dirty="0"/>
          </a:p>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Δt* follows Eq. 6's straight line in d; its single g does not fit (implied 0.79–0.92).</a:t>
            </a:r>
            <a:endParaRPr lang="en-US" sz="1600" dirty="0"/>
          </a:p>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Dephasing: Δt* ∝ γ⁻¹ or c^(−1/2). At H2's ratio, back to back is best.</a:t>
            </a:r>
            <a:endParaRPr lang="en-US" sz="1600" dirty="0"/>
          </a:p>
        </p:txBody>
      </p:sp>
      <p:sp>
        <p:nvSpPr>
          <p:cNvPr id="8" name="Shape 6"/>
          <p:cNvSpPr/>
          <p:nvPr/>
        </p:nvSpPr>
        <p:spPr>
          <a:xfrm>
            <a:off x="4288536" y="1280160"/>
            <a:ext cx="3611880" cy="5212080"/>
          </a:xfrm>
          <a:prstGeom prst="roundRect">
            <a:avLst>
              <a:gd name="adj" fmla="val 2532"/>
            </a:avLst>
          </a:prstGeom>
          <a:solidFill>
            <a:srgbClr val="FDF0E8"/>
          </a:solidFill>
          <a:ln w="12700">
            <a:solidFill>
              <a:srgbClr val="FDF0E8"/>
            </a:solidFill>
            <a:prstDash val="solid"/>
          </a:ln>
        </p:spPr>
      </p:sp>
      <p:sp>
        <p:nvSpPr>
          <p:cNvPr id="9" name="Text 7"/>
          <p:cNvSpPr txBox="1"/>
          <p:nvPr/>
        </p:nvSpPr>
        <p:spPr>
          <a:xfrm>
            <a:off x="4517136" y="1463040"/>
            <a:ext cx="3154680" cy="457200"/>
          </a:xfrm>
          <a:prstGeom prst="rect">
            <a:avLst/>
          </a:prstGeom>
          <a:noFill/>
          <a:ln/>
        </p:spPr>
        <p:txBody>
          <a:bodyPr wrap="square" lIns="0" tIns="0" rIns="0" bIns="0" rtlCol="0" anchor="ctr"/>
          <a:lstStyle/>
          <a:p>
            <a:pPr indent="0" marL="0">
              <a:buNone/>
            </a:pPr>
            <a:r>
              <a:rPr lang="en-US" sz="1900" b="1" dirty="0">
                <a:solidFill>
                  <a:srgbClr val="C0392B"/>
                </a:solidFill>
                <a:latin typeface="Cambria" pitchFamily="34" charset="0"/>
                <a:ea typeface="Cambria" pitchFamily="34" charset="-122"/>
                <a:cs typeface="Cambria" pitchFamily="34" charset="-120"/>
              </a:rPr>
              <a:t>Still open</a:t>
            </a:r>
            <a:endParaRPr lang="en-US" sz="1900" dirty="0"/>
          </a:p>
        </p:txBody>
      </p:sp>
      <p:sp>
        <p:nvSpPr>
          <p:cNvPr id="10" name="Text 8"/>
          <p:cNvSpPr txBox="1"/>
          <p:nvPr/>
        </p:nvSpPr>
        <p:spPr>
          <a:xfrm>
            <a:off x="4517136" y="2103120"/>
            <a:ext cx="3154680" cy="4206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H2's idle-to-gate ratio is assumed (6 layers per round), not measured.</a:t>
            </a:r>
            <a:endParaRPr lang="en-US" sz="1600" dirty="0"/>
          </a:p>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Selene's p_L sits 30–40% above the model at d = 7.</a:t>
            </a:r>
            <a:endParaRPr lang="en-US" sz="1600" dirty="0"/>
          </a:p>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Readout noise does not move Selene's Δt* the way the model predicts.</a:t>
            </a:r>
            <a:endParaRPr lang="en-US" sz="1600" dirty="0"/>
          </a:p>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Only d ≤ 7; the paper fits g at d = 11–27.</a:t>
            </a:r>
            <a:endParaRPr lang="en-US" sz="1600" dirty="0"/>
          </a:p>
        </p:txBody>
      </p:sp>
      <p:sp>
        <p:nvSpPr>
          <p:cNvPr id="11" name="Shape 9"/>
          <p:cNvSpPr/>
          <p:nvPr/>
        </p:nvSpPr>
        <p:spPr>
          <a:xfrm>
            <a:off x="8119872" y="1280160"/>
            <a:ext cx="3611880" cy="5212080"/>
          </a:xfrm>
          <a:prstGeom prst="roundRect">
            <a:avLst>
              <a:gd name="adj" fmla="val 2532"/>
            </a:avLst>
          </a:prstGeom>
          <a:solidFill>
            <a:srgbClr val="EEF2F5"/>
          </a:solidFill>
          <a:ln w="12700">
            <a:solidFill>
              <a:srgbClr val="EEF2F5"/>
            </a:solidFill>
            <a:prstDash val="solid"/>
          </a:ln>
        </p:spPr>
      </p:sp>
      <p:sp>
        <p:nvSpPr>
          <p:cNvPr id="12" name="Text 10"/>
          <p:cNvSpPr txBox="1"/>
          <p:nvPr/>
        </p:nvSpPr>
        <p:spPr>
          <a:xfrm>
            <a:off x="8348472" y="1463040"/>
            <a:ext cx="3154680" cy="457200"/>
          </a:xfrm>
          <a:prstGeom prst="rect">
            <a:avLst/>
          </a:prstGeom>
          <a:noFill/>
          <a:ln/>
        </p:spPr>
        <p:txBody>
          <a:bodyPr wrap="square" lIns="0" tIns="0" rIns="0" bIns="0" rtlCol="0" anchor="ctr"/>
          <a:lstStyle/>
          <a:p>
            <a:pPr indent="0" marL="0">
              <a:buNone/>
            </a:pPr>
            <a:r>
              <a:rPr lang="en-US" sz="1900" b="1" dirty="0">
                <a:solidFill>
                  <a:srgbClr val="1F3A4D"/>
                </a:solidFill>
                <a:latin typeface="Cambria" pitchFamily="34" charset="0"/>
                <a:ea typeface="Cambria" pitchFamily="34" charset="-122"/>
                <a:cs typeface="Cambria" pitchFamily="34" charset="-120"/>
              </a:rPr>
              <a:t>Measured vs declared</a:t>
            </a:r>
            <a:endParaRPr lang="en-US" sz="1900" dirty="0"/>
          </a:p>
        </p:txBody>
      </p:sp>
      <p:sp>
        <p:nvSpPr>
          <p:cNvPr id="13" name="Text 11"/>
          <p:cNvSpPr txBox="1"/>
          <p:nvPr/>
        </p:nvSpPr>
        <p:spPr>
          <a:xfrm>
            <a:off x="8348472" y="2103120"/>
            <a:ext cx="3154680" cy="4206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Measured: p_stab per qubit, n_data, n_anc, Δt* at d = 3–7, the H2-ratio curves.</a:t>
            </a:r>
            <a:endParaRPr lang="en-US" sz="1600" dirty="0"/>
          </a:p>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Declared: Selene's idle rate (an op count); H2's idle ratio (6 layers per round).</a:t>
            </a:r>
            <a:endParaRPr lang="en-US" sz="1600" dirty="0"/>
          </a:p>
          <a:p>
            <a:pPr marL="203200" indent="-203200">
              <a:spcAft>
                <a:spcPts val="800"/>
              </a:spcAft>
              <a:buSzPct val="100000"/>
              <a:buChar char="•"/>
            </a:pPr>
            <a:r>
              <a:rPr lang="en-US" sz="1600" dirty="0">
                <a:solidFill>
                  <a:srgbClr val="17212B"/>
                </a:solidFill>
                <a:latin typeface="Calibri" pitchFamily="34" charset="0"/>
                <a:ea typeface="Calibri" pitchFamily="34" charset="-122"/>
                <a:cs typeface="Calibri" pitchFamily="34" charset="-120"/>
              </a:rPr>
              <a:t>Absent: T1, leakage, crosstalk, asymmetric readout, d ≥ 9 in Selene.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212B"/>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Next</a:t>
            </a:r>
            <a:endParaRPr lang="en-US" sz="4000" dirty="0"/>
          </a:p>
        </p:txBody>
      </p:sp>
      <p:sp>
        <p:nvSpPr>
          <p:cNvPr id="3" name="Shape 1"/>
          <p:cNvSpPr/>
          <p:nvPr/>
        </p:nvSpPr>
        <p:spPr>
          <a:xfrm>
            <a:off x="731520" y="1783080"/>
            <a:ext cx="457200" cy="457200"/>
          </a:xfrm>
          <a:prstGeom prst="ellipse">
            <a:avLst/>
          </a:prstGeom>
          <a:solidFill>
            <a:srgbClr val="E8692F"/>
          </a:solidFill>
          <a:ln w="12700">
            <a:solidFill>
              <a:srgbClr val="E8692F"/>
            </a:solidFill>
            <a:prstDash val="solid"/>
          </a:ln>
        </p:spPr>
      </p:sp>
      <p:sp>
        <p:nvSpPr>
          <p:cNvPr id="4" name="Text 2"/>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737360"/>
            <a:ext cx="4572000" cy="41148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Measure H2's idle ratio</a:t>
            </a:r>
            <a:endParaRPr lang="en-US" sz="1800" dirty="0"/>
          </a:p>
        </p:txBody>
      </p:sp>
      <p:sp>
        <p:nvSpPr>
          <p:cNvPr id="6" name="Text 4"/>
          <p:cNvSpPr txBox="1"/>
          <p:nvPr/>
        </p:nvSpPr>
        <p:spPr>
          <a:xfrm>
            <a:off x="1371600" y="2148840"/>
            <a:ext cx="4572000" cy="731520"/>
          </a:xfrm>
          <a:prstGeom prst="rect">
            <a:avLst/>
          </a:prstGeom>
          <a:noFill/>
          <a:ln/>
        </p:spPr>
        <p:txBody>
          <a:bodyPr wrap="square" lIns="0" tIns="0" rIns="0" bIns="0" rtlCol="0" anchor="t"/>
          <a:lstStyle/>
          <a:p>
            <a:pPr indent="0" marL="0">
              <a:buNone/>
            </a:pPr>
            <a:r>
              <a:rPr lang="en-US" sz="1350" dirty="0">
                <a:solidFill>
                  <a:srgbClr val="B8C7D3"/>
                </a:solidFill>
                <a:latin typeface="Calibri" pitchFamily="34" charset="0"/>
                <a:ea typeface="Calibri" pitchFamily="34" charset="-122"/>
                <a:cs typeface="Calibri" pitchFamily="34" charset="-120"/>
              </a:rPr>
              <a:t>Round duration and the linear/quadratic split from the hardware specs.</a:t>
            </a:r>
            <a:endParaRPr lang="en-US" sz="1350" dirty="0"/>
          </a:p>
        </p:txBody>
      </p:sp>
      <p:sp>
        <p:nvSpPr>
          <p:cNvPr id="7" name="Shape 5"/>
          <p:cNvSpPr/>
          <p:nvPr/>
        </p:nvSpPr>
        <p:spPr>
          <a:xfrm>
            <a:off x="6309360" y="1783080"/>
            <a:ext cx="457200" cy="457200"/>
          </a:xfrm>
          <a:prstGeom prst="ellipse">
            <a:avLst/>
          </a:prstGeom>
          <a:solidFill>
            <a:srgbClr val="E8692F"/>
          </a:solidFill>
          <a:ln w="12700">
            <a:solidFill>
              <a:srgbClr val="E8692F"/>
            </a:solidFill>
            <a:prstDash val="solid"/>
          </a:ln>
        </p:spPr>
      </p:sp>
      <p:sp>
        <p:nvSpPr>
          <p:cNvPr id="8" name="Text 6"/>
          <p:cNvSpPr txBox="1"/>
          <p:nvPr/>
        </p:nvSpPr>
        <p:spPr>
          <a:xfrm>
            <a:off x="630936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6949440" y="1737360"/>
            <a:ext cx="4572000" cy="41148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d = 9 in Selene</a:t>
            </a:r>
            <a:endParaRPr lang="en-US" sz="1800" dirty="0"/>
          </a:p>
        </p:txBody>
      </p:sp>
      <p:sp>
        <p:nvSpPr>
          <p:cNvPr id="10" name="Text 8"/>
          <p:cNvSpPr txBox="1"/>
          <p:nvPr/>
        </p:nvSpPr>
        <p:spPr>
          <a:xfrm>
            <a:off x="6949440" y="2148840"/>
            <a:ext cx="4572000" cy="731520"/>
          </a:xfrm>
          <a:prstGeom prst="rect">
            <a:avLst/>
          </a:prstGeom>
          <a:noFill/>
          <a:ln/>
        </p:spPr>
        <p:txBody>
          <a:bodyPr wrap="square" lIns="0" tIns="0" rIns="0" bIns="0" rtlCol="0" anchor="t"/>
          <a:lstStyle/>
          <a:p>
            <a:pPr indent="0" marL="0">
              <a:buNone/>
            </a:pPr>
            <a:r>
              <a:rPr lang="en-US" sz="1350" dirty="0">
                <a:solidFill>
                  <a:srgbClr val="B8C7D3"/>
                </a:solidFill>
                <a:latin typeface="Calibri" pitchFamily="34" charset="0"/>
                <a:ea typeface="Calibri" pitchFamily="34" charset="-122"/>
                <a:cs typeface="Calibri" pitchFamily="34" charset="-120"/>
              </a:rPr>
              <a:t>Does the implied g keep rising, towards or past the paper's 0.8?</a:t>
            </a:r>
            <a:endParaRPr lang="en-US" sz="1350" dirty="0"/>
          </a:p>
        </p:txBody>
      </p:sp>
      <p:sp>
        <p:nvSpPr>
          <p:cNvPr id="11" name="Shape 9"/>
          <p:cNvSpPr/>
          <p:nvPr/>
        </p:nvSpPr>
        <p:spPr>
          <a:xfrm>
            <a:off x="731520" y="3246120"/>
            <a:ext cx="457200" cy="457200"/>
          </a:xfrm>
          <a:prstGeom prst="ellipse">
            <a:avLst/>
          </a:prstGeom>
          <a:solidFill>
            <a:srgbClr val="E8692F"/>
          </a:solidFill>
          <a:ln w="12700">
            <a:solidFill>
              <a:srgbClr val="E8692F"/>
            </a:solidFill>
            <a:prstDash val="solid"/>
          </a:ln>
        </p:spPr>
      </p:sp>
      <p:sp>
        <p:nvSpPr>
          <p:cNvPr id="12" name="Text 10"/>
          <p:cNvSpPr txBox="1"/>
          <p:nvPr/>
        </p:nvSpPr>
        <p:spPr>
          <a:xfrm>
            <a:off x="731520" y="3246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3200400"/>
            <a:ext cx="4572000" cy="41148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Re-run 06c's p_meas sweep</a:t>
            </a:r>
            <a:endParaRPr lang="en-US" sz="1800" dirty="0"/>
          </a:p>
        </p:txBody>
      </p:sp>
      <p:sp>
        <p:nvSpPr>
          <p:cNvPr id="14" name="Text 12"/>
          <p:cNvSpPr txBox="1"/>
          <p:nvPr/>
        </p:nvSpPr>
        <p:spPr>
          <a:xfrm>
            <a:off x="1371600" y="3611880"/>
            <a:ext cx="4572000" cy="731520"/>
          </a:xfrm>
          <a:prstGeom prst="rect">
            <a:avLst/>
          </a:prstGeom>
          <a:noFill/>
          <a:ln/>
        </p:spPr>
        <p:txBody>
          <a:bodyPr wrap="square" lIns="0" tIns="0" rIns="0" bIns="0" rtlCol="0" anchor="t"/>
          <a:lstStyle/>
          <a:p>
            <a:pPr indent="0" marL="0">
              <a:buNone/>
            </a:pPr>
            <a:r>
              <a:rPr lang="en-US" sz="1350" dirty="0">
                <a:solidFill>
                  <a:srgbClr val="B8C7D3"/>
                </a:solidFill>
                <a:latin typeface="Calibri" pitchFamily="34" charset="0"/>
                <a:ea typeface="Calibri" pitchFamily="34" charset="-122"/>
                <a:cs typeface="Calibri" pitchFamily="34" charset="-120"/>
              </a:rPr>
              <a:t>With disjoint seeds: the model predicts Δt* moving; Selene shows none.</a:t>
            </a:r>
            <a:endParaRPr lang="en-US" sz="1350" dirty="0"/>
          </a:p>
        </p:txBody>
      </p:sp>
      <p:sp>
        <p:nvSpPr>
          <p:cNvPr id="15" name="Shape 13"/>
          <p:cNvSpPr/>
          <p:nvPr/>
        </p:nvSpPr>
        <p:spPr>
          <a:xfrm>
            <a:off x="6309360" y="3246120"/>
            <a:ext cx="457200" cy="457200"/>
          </a:xfrm>
          <a:prstGeom prst="ellipse">
            <a:avLst/>
          </a:prstGeom>
          <a:solidFill>
            <a:srgbClr val="E8692F"/>
          </a:solidFill>
          <a:ln w="12700">
            <a:solidFill>
              <a:srgbClr val="E8692F"/>
            </a:solidFill>
            <a:prstDash val="solid"/>
          </a:ln>
        </p:spPr>
      </p:sp>
      <p:sp>
        <p:nvSpPr>
          <p:cNvPr id="16" name="Text 14"/>
          <p:cNvSpPr txBox="1"/>
          <p:nvPr/>
        </p:nvSpPr>
        <p:spPr>
          <a:xfrm>
            <a:off x="6309360" y="3246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6949440" y="3200400"/>
            <a:ext cx="4572000" cy="41148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Per-qubit p_stab in the model</a:t>
            </a:r>
            <a:endParaRPr lang="en-US" sz="1800" dirty="0"/>
          </a:p>
        </p:txBody>
      </p:sp>
      <p:sp>
        <p:nvSpPr>
          <p:cNvPr id="18" name="Text 16"/>
          <p:cNvSpPr txBox="1"/>
          <p:nvPr/>
        </p:nvSpPr>
        <p:spPr>
          <a:xfrm>
            <a:off x="6949440" y="3611880"/>
            <a:ext cx="4572000" cy="731520"/>
          </a:xfrm>
          <a:prstGeom prst="rect">
            <a:avLst/>
          </a:prstGeom>
          <a:noFill/>
          <a:ln/>
        </p:spPr>
        <p:txBody>
          <a:bodyPr wrap="square" lIns="0" tIns="0" rIns="0" bIns="0" rtlCol="0" anchor="t"/>
          <a:lstStyle/>
          <a:p>
            <a:pPr indent="0" marL="0">
              <a:buNone/>
            </a:pPr>
            <a:r>
              <a:rPr lang="en-US" sz="1350" dirty="0">
                <a:solidFill>
                  <a:srgbClr val="B8C7D3"/>
                </a:solidFill>
                <a:latin typeface="Calibri" pitchFamily="34" charset="0"/>
                <a:ea typeface="Calibri" pitchFamily="34" charset="-122"/>
                <a:cs typeface="Calibri" pitchFamily="34" charset="-120"/>
              </a:rPr>
              <a:t>Does it close the 30–40% p_L gap at d = 7?</a:t>
            </a:r>
            <a:endParaRPr lang="en-US" sz="1350" dirty="0"/>
          </a:p>
        </p:txBody>
      </p:sp>
      <p:sp>
        <p:nvSpPr>
          <p:cNvPr id="19" name="Shape 17"/>
          <p:cNvSpPr/>
          <p:nvPr/>
        </p:nvSpPr>
        <p:spPr>
          <a:xfrm>
            <a:off x="731520" y="4709160"/>
            <a:ext cx="457200" cy="457200"/>
          </a:xfrm>
          <a:prstGeom prst="ellipse">
            <a:avLst/>
          </a:prstGeom>
          <a:solidFill>
            <a:srgbClr val="E8692F"/>
          </a:solidFill>
          <a:ln w="12700">
            <a:solidFill>
              <a:srgbClr val="E8692F"/>
            </a:solidFill>
            <a:prstDash val="solid"/>
          </a:ln>
        </p:spPr>
      </p:sp>
      <p:sp>
        <p:nvSpPr>
          <p:cNvPr id="20" name="Text 18"/>
          <p:cNvSpPr txBox="1"/>
          <p:nvPr/>
        </p:nvSpPr>
        <p:spPr>
          <a:xfrm>
            <a:off x="731520" y="4709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1371600" y="4663440"/>
            <a:ext cx="4572000" cy="41148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Carry 04d's fixes into 05 and 06c</a:t>
            </a:r>
            <a:endParaRPr lang="en-US" sz="1800" dirty="0"/>
          </a:p>
        </p:txBody>
      </p:sp>
      <p:sp>
        <p:nvSpPr>
          <p:cNvPr id="22" name="Text 20"/>
          <p:cNvSpPr txBox="1"/>
          <p:nvPr/>
        </p:nvSpPr>
        <p:spPr>
          <a:xfrm>
            <a:off x="1371600" y="5074920"/>
            <a:ext cx="4572000" cy="731520"/>
          </a:xfrm>
          <a:prstGeom prst="rect">
            <a:avLst/>
          </a:prstGeom>
          <a:noFill/>
          <a:ln/>
        </p:spPr>
        <p:txBody>
          <a:bodyPr wrap="square" lIns="0" tIns="0" rIns="0" bIns="0" rtlCol="0" anchor="t"/>
          <a:lstStyle/>
          <a:p>
            <a:pPr indent="0" marL="0">
              <a:buNone/>
            </a:pPr>
            <a:r>
              <a:rPr lang="en-US" sz="1350" dirty="0">
                <a:solidFill>
                  <a:srgbClr val="B8C7D3"/>
                </a:solidFill>
                <a:latin typeface="Calibri" pitchFamily="34" charset="0"/>
                <a:ea typeface="Calibri" pitchFamily="34" charset="-122"/>
                <a:cs typeface="Calibri" pitchFamily="34" charset="-120"/>
              </a:rPr>
              <a:t>⊕ readout, and p_meas alone on the final data readout.</a:t>
            </a:r>
            <a:endParaRPr lang="en-US" sz="1350" dirty="0"/>
          </a:p>
        </p:txBody>
      </p:sp>
      <p:sp>
        <p:nvSpPr>
          <p:cNvPr id="23" name="Shape 21"/>
          <p:cNvSpPr/>
          <p:nvPr/>
        </p:nvSpPr>
        <p:spPr>
          <a:xfrm>
            <a:off x="6309360" y="4709160"/>
            <a:ext cx="457200" cy="457200"/>
          </a:xfrm>
          <a:prstGeom prst="ellipse">
            <a:avLst/>
          </a:prstGeom>
          <a:solidFill>
            <a:srgbClr val="E8692F"/>
          </a:solidFill>
          <a:ln w="12700">
            <a:solidFill>
              <a:srgbClr val="E8692F"/>
            </a:solidFill>
            <a:prstDash val="solid"/>
          </a:ln>
        </p:spPr>
      </p:sp>
      <p:sp>
        <p:nvSpPr>
          <p:cNvPr id="24" name="Text 22"/>
          <p:cNvSpPr txBox="1"/>
          <p:nvPr/>
        </p:nvSpPr>
        <p:spPr>
          <a:xfrm>
            <a:off x="6309360" y="4709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5" name="Text 23"/>
          <p:cNvSpPr txBox="1"/>
          <p:nvPr/>
        </p:nvSpPr>
        <p:spPr>
          <a:xfrm>
            <a:off x="6949440" y="4663440"/>
            <a:ext cx="4572000" cy="41148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A gain map for 07</a:t>
            </a:r>
            <a:endParaRPr lang="en-US" sz="1800" dirty="0"/>
          </a:p>
        </p:txBody>
      </p:sp>
      <p:sp>
        <p:nvSpPr>
          <p:cNvPr id="26" name="Text 24"/>
          <p:cNvSpPr txBox="1"/>
          <p:nvPr/>
        </p:nvSpPr>
        <p:spPr>
          <a:xfrm>
            <a:off x="6949440" y="5074920"/>
            <a:ext cx="4572000" cy="731520"/>
          </a:xfrm>
          <a:prstGeom prst="rect">
            <a:avLst/>
          </a:prstGeom>
          <a:noFill/>
          <a:ln/>
        </p:spPr>
        <p:txBody>
          <a:bodyPr wrap="square" lIns="0" tIns="0" rIns="0" bIns="0" rtlCol="0" anchor="t"/>
          <a:lstStyle/>
          <a:p>
            <a:pPr indent="0" marL="0">
              <a:buNone/>
            </a:pPr>
            <a:r>
              <a:rPr lang="en-US" sz="1350" dirty="0">
                <a:solidFill>
                  <a:srgbClr val="B8C7D3"/>
                </a:solidFill>
                <a:latin typeface="Calibri" pitchFamily="34" charset="0"/>
                <a:ea typeface="Calibri" pitchFamily="34" charset="-122"/>
                <a:cs typeface="Calibri" pitchFamily="34" charset="-120"/>
              </a:rPr>
              <a:t>Colour by R(1)/R(Δt*): where waiting pays, not only where Δt* &gt; 1.</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5</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dirty="0">
                <a:solidFill>
                  <a:srgbClr val="17212B"/>
                </a:solidFill>
                <a:latin typeface="Cambria" pitchFamily="34" charset="0"/>
                <a:ea typeface="Cambria" pitchFamily="34" charset="-122"/>
                <a:cs typeface="Cambria" pitchFamily="34" charset="-120"/>
              </a:rPr>
              <a:t>Is the readout bookkeeping right?</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notebooks/04d_readout_composition.ipynb · 04 calibrated with p_meas = 0; 05–06c add it afterwards</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6766560" cy="2514600"/>
        </p:xfrm>
        <a:graphic>
          <a:graphicData uri="http://schemas.openxmlformats.org/drawingml/2006/table">
            <a:tbl>
              <a:tblPr/>
              <a:tblGrid>
                <a:gridCol w="2571292"/>
                <a:gridCol w="4195267"/>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check</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502920">
                <a:tc>
                  <a:txBody>
                    <a:bodyPr/>
                    <a:lstStyle/>
                    <a:p>
                      <a:pPr indent="0" marL="0">
                        <a:buNone/>
                      </a:pPr>
                      <a:r>
                        <a:rPr lang="en-US" sz="1500" dirty="0">
                          <a:solidFill>
                            <a:srgbClr val="17212B"/>
                          </a:solidFill>
                          <a:latin typeface="Calibri" pitchFamily="34" charset="0"/>
                          <a:ea typeface="Calibri" pitchFamily="34" charset="-122"/>
                          <a:cs typeface="Calibri" pitchFamily="34" charset="-120"/>
                        </a:rPr>
                        <a:t>p_meas changes the data cost?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500" dirty="0">
                          <a:solidFill>
                            <a:srgbClr val="C0392B"/>
                          </a:solidFill>
                          <a:latin typeface="Calibri" pitchFamily="34" charset="0"/>
                          <a:ea typeface="Calibri" pitchFamily="34" charset="-122"/>
                          <a:cs typeface="Calibri" pitchFamily="34" charset="-120"/>
                        </a:rPr>
                        <a:t>No. n_data 6.86 vs 6.89 (d=3), 8.34 vs 8.40 (d=5)</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12B"/>
                          </a:solidFill>
                          <a:latin typeface="Calibri" pitchFamily="34" charset="0"/>
                          <a:ea typeface="Calibri" pitchFamily="34" charset="-122"/>
                          <a:cs typeface="Calibri" pitchFamily="34" charset="-120"/>
                        </a:rPr>
                        <a:t>p_meas + ancilla faults combine as</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500" dirty="0">
                          <a:solidFill>
                            <a:srgbClr val="C0392B"/>
                          </a:solidFill>
                          <a:latin typeface="Calibri" pitchFamily="34" charset="0"/>
                          <a:ea typeface="Calibri" pitchFamily="34" charset="-122"/>
                          <a:cs typeface="Calibri" pitchFamily="34" charset="-120"/>
                        </a:rPr>
                        <a:t>independent flips, a ⊕ b. The 1−(1−a)(1−b) rule fails at p_meas = 0.3 (χ²/dof 53 vs 1.0)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12B"/>
                          </a:solidFill>
                          <a:latin typeface="Calibri" pitchFamily="34" charset="0"/>
                          <a:ea typeface="Calibri" pitchFamily="34" charset="-122"/>
                          <a:cs typeface="Calibri" pitchFamily="34" charset="-120"/>
                        </a:rPr>
                        <a:t>final data readout in the theory</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500" dirty="0">
                          <a:solidFill>
                            <a:srgbClr val="C0392B"/>
                          </a:solidFill>
                          <a:latin typeface="Calibri" pitchFamily="34" charset="0"/>
                          <a:ea typeface="Calibri" pitchFamily="34" charset="-122"/>
                          <a:cs typeface="Calibri" pitchFamily="34" charset="-120"/>
                        </a:rPr>
                        <a:t>carries p_meas only (0.002, not 0.005): theory p_L about 4% lower</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12B"/>
                          </a:solidFill>
                          <a:latin typeface="Calibri" pitchFamily="34" charset="0"/>
                          <a:ea typeface="Calibri" pitchFamily="34" charset="-122"/>
                          <a:cs typeface="Calibri" pitchFamily="34" charset="-120"/>
                        </a:rPr>
                        <a:t>that readout's share of p_L</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500" dirty="0">
                          <a:solidFill>
                            <a:srgbClr val="C0392B"/>
                          </a:solidFill>
                          <a:latin typeface="Calibri" pitchFamily="34" charset="0"/>
                          <a:ea typeface="Calibri" pitchFamily="34" charset="-122"/>
                          <a:cs typeface="Calibri" pitchFamily="34" charset="-120"/>
                        </a:rPr>
                        <a:t>0.7% at Δt = 1 up to 5.8% at Δt = 32; Δt* moves &lt; 0.5σ</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480560"/>
            <a:ext cx="6766560" cy="365760"/>
          </a:xfrm>
          <a:prstGeom prst="rect">
            <a:avLst/>
          </a:prstGeom>
          <a:noFill/>
          <a:ln/>
        </p:spPr>
        <p:txBody>
          <a:bodyPr wrap="square" lIns="0" tIns="0" rIns="0" bIns="0" rtlCol="0" anchor="ctr"/>
          <a:lstStyle/>
          <a:p>
            <a:pPr indent="0" marL="0">
              <a:buNone/>
            </a:pPr>
            <a:r>
              <a:rPr lang="en-US" sz="1800" dirty="0">
                <a:solidFill>
                  <a:srgbClr val="1F3A4D"/>
                </a:solidFill>
                <a:latin typeface="Cambria" pitchFamily="34" charset="0"/>
                <a:ea typeface="Cambria" pitchFamily="34" charset="-122"/>
                <a:cs typeface="Cambria" pitchFamily="34" charset="-120"/>
              </a:rPr>
              <a:t>Why the ancilla counts as readout.</a:t>
            </a:r>
            <a:endParaRPr lang="en-US" sz="2600" dirty="0"/>
          </a:p>
        </p:txBody>
      </p:sp>
      <p:sp>
        <p:nvSpPr>
          <p:cNvPr id="8" name="Text 5"/>
          <p:cNvSpPr txBox="1"/>
          <p:nvPr/>
        </p:nvSpPr>
        <p:spPr>
          <a:xfrm>
            <a:off x="457200" y="4983480"/>
            <a:ext cx="6766560" cy="777240"/>
          </a:xfrm>
          <a:prstGeom prst="rect">
            <a:avLst/>
          </a:prstGeom>
          <a:noFill/>
          <a:ln/>
        </p:spPr>
        <p:txBody>
          <a:bodyPr wrap="square" lIns="0" tIns="0" rIns="0" bIns="0" rtlCol="0" anchor="t"/>
          <a:lstStyle/>
          <a:p>
            <a:pPr indent="0" marL="0">
              <a:buNone/>
            </a:pPr>
            <a:r>
              <a:rPr lang="en-US" sz="1500" dirty="0">
                <a:solidFill>
                  <a:srgbClr val="17212B"/>
                </a:solidFill>
                <a:latin typeface="Calibri" pitchFamily="34" charset="0"/>
                <a:ea typeface="Calibri" pitchFamily="34" charset="-122"/>
                <a:cs typeface="Calibri" pitchFamily="34" charset="-120"/>
              </a:rPr>
              <a:t>An X fault on a Z-ancilla stays on the ancilla (it is the CNOT target), so it only flips that round's syndrome bit: to the decoder, the same as a misread bit. So p_read = p_anc ⊕ p_meas.</a:t>
            </a:r>
            <a:endParaRPr lang="en-US" sz="1500" dirty="0"/>
          </a:p>
        </p:txBody>
      </p:sp>
      <p:sp>
        <p:nvSpPr>
          <p:cNvPr id="9" name="Shape 6"/>
          <p:cNvSpPr/>
          <p:nvPr/>
        </p:nvSpPr>
        <p:spPr>
          <a:xfrm>
            <a:off x="7680960" y="1463040"/>
            <a:ext cx="4050792" cy="4069080"/>
          </a:xfrm>
          <a:prstGeom prst="roundRect">
            <a:avLst>
              <a:gd name="adj" fmla="val 2257"/>
            </a:avLst>
          </a:prstGeom>
          <a:solidFill>
            <a:srgbClr val="E6F4EF"/>
          </a:solidFill>
          <a:ln w="12700">
            <a:solidFill>
              <a:srgbClr val="E6F4EF"/>
            </a:solidFill>
            <a:prstDash val="solid"/>
          </a:ln>
        </p:spPr>
      </p:sp>
      <p:sp>
        <p:nvSpPr>
          <p:cNvPr id="10" name="Text 7"/>
          <p:cNvSpPr txBox="1"/>
          <p:nvPr/>
        </p:nvSpPr>
        <p:spPr>
          <a:xfrm>
            <a:off x="7955280" y="1691640"/>
            <a:ext cx="3566160" cy="457200"/>
          </a:xfrm>
          <a:prstGeom prst="rect">
            <a:avLst/>
          </a:prstGeom>
          <a:noFill/>
          <a:ln/>
        </p:spPr>
        <p:txBody>
          <a:bodyPr wrap="square" lIns="0" tIns="0" rIns="0" bIns="0" rtlCol="0" anchor="ctr"/>
          <a:lstStyle/>
          <a:p>
            <a:pPr indent="0" marL="0">
              <a:buNone/>
            </a:pPr>
            <a:r>
              <a:rPr lang="en-US" sz="2200" dirty="0">
                <a:solidFill>
                  <a:srgbClr val="1A9E77"/>
                </a:solidFill>
                <a:latin typeface="Cambria" pitchFamily="34" charset="0"/>
                <a:ea typeface="Cambria" pitchFamily="34" charset="-122"/>
                <a:cs typeface="Cambria" pitchFamily="34" charset="-120"/>
              </a:rPr>
              <a:t>What changes</a:t>
            </a:r>
            <a:endParaRPr lang="en-US" sz="2200" dirty="0"/>
          </a:p>
        </p:txBody>
      </p:sp>
      <p:sp>
        <p:nvSpPr>
          <p:cNvPr id="11" name="Text 8"/>
          <p:cNvSpPr txBox="1"/>
          <p:nvPr/>
        </p:nvSpPr>
        <p:spPr>
          <a:xfrm>
            <a:off x="7955280" y="2240280"/>
            <a:ext cx="3566160" cy="31089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7212B"/>
                </a:solidFill>
                <a:latin typeface="Calibri" pitchFamily="34" charset="0"/>
                <a:ea typeface="Calibri" pitchFamily="34" charset="-122"/>
                <a:cs typeface="Calibri" pitchFamily="34" charset="-120"/>
              </a:rPr>
              <a:t>p_read = p_anc ⊕ p_meas.</a:t>
            </a:r>
            <a:endParaRPr lang="en-US" sz="1500" dirty="0"/>
          </a:p>
          <a:p>
            <a:pPr marL="203200" indent="-203200">
              <a:spcAft>
                <a:spcPts val="800"/>
              </a:spcAft>
              <a:buSzPct val="100000"/>
              <a:buChar char="•"/>
            </a:pPr>
            <a:r>
              <a:rPr lang="en-US" sz="1500" dirty="0">
                <a:solidFill>
                  <a:srgbClr val="17212B"/>
                </a:solidFill>
                <a:latin typeface="Calibri" pitchFamily="34" charset="0"/>
                <a:ea typeface="Calibri" pitchFamily="34" charset="-122"/>
                <a:cs typeface="Calibri" pitchFamily="34" charset="-120"/>
              </a:rPr>
              <a:t>The final data readout carries p_meas alone.</a:t>
            </a:r>
            <a:endParaRPr lang="en-US" sz="1500" dirty="0"/>
          </a:p>
          <a:p>
            <a:pPr marL="203200" indent="-203200">
              <a:spcAft>
                <a:spcPts val="800"/>
              </a:spcAft>
              <a:buSzPct val="100000"/>
              <a:buChar char="•"/>
            </a:pPr>
            <a:r>
              <a:rPr lang="en-US" sz="1500" dirty="0">
                <a:solidFill>
                  <a:srgbClr val="17212B"/>
                </a:solidFill>
                <a:latin typeface="Calibri" pitchFamily="34" charset="0"/>
                <a:ea typeface="Calibri" pitchFamily="34" charset="-122"/>
                <a:cs typeface="Calibri" pitchFamily="34" charset="-120"/>
              </a:rPr>
              <a:t>At the operating point the ⊕ correction is 6×10⁻⁶.</a:t>
            </a:r>
            <a:endParaRPr lang="en-US" sz="1500" dirty="0"/>
          </a:p>
        </p:txBody>
      </p:sp>
      <p:sp>
        <p:nvSpPr>
          <p:cNvPr id="12" name="Shape 9"/>
          <p:cNvSpPr/>
          <p:nvPr/>
        </p:nvSpPr>
        <p:spPr>
          <a:xfrm>
            <a:off x="457200" y="5833872"/>
            <a:ext cx="11277295" cy="658368"/>
          </a:xfrm>
          <a:prstGeom prst="roundRect">
            <a:avLst>
              <a:gd name="adj" fmla="val 11111"/>
            </a:avLst>
          </a:prstGeom>
          <a:solidFill>
            <a:srgbClr val="FDF0E8"/>
          </a:solidFill>
          <a:ln w="12700">
            <a:solidFill>
              <a:srgbClr val="FDF0E8"/>
            </a:solidFill>
            <a:prstDash val="solid"/>
          </a:ln>
        </p:spPr>
      </p:sp>
      <p:sp>
        <p:nvSpPr>
          <p:cNvPr id="13" name="Text 10"/>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 xml:space="preserve">Verdict:  </a:t>
            </a:r>
            <a:r>
              <a:rPr lang="en-US" sz="1400" dirty="0">
                <a:solidFill>
                  <a:srgbClr val="17212B"/>
                </a:solidFill>
                <a:latin typeface="Calibri" pitchFamily="34" charset="0"/>
                <a:ea typeface="Calibri" pitchFamily="34" charset="-122"/>
                <a:cs typeface="Calibri" pitchFamily="34" charset="-120"/>
              </a:rPr>
              <a:t>λ and p from 04 hold with p_meas on. The readout corrections move the theory curve by about 4%, inside its errors.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7</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dirty="0">
                <a:solidFill>
                  <a:srgbClr val="17212B"/>
                </a:solidFill>
                <a:latin typeface="Cambria" pitchFamily="34" charset="0"/>
                <a:ea typeface="Cambria" pitchFamily="34" charset="-122"/>
                <a:cs typeface="Cambria" pitchFamily="34" charset="-120"/>
              </a:rPr>
              <a:t>The decoder must see the whole circuit</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notebooks/06a_stim_mirror.ipynb · 06b_decoder_comparison.ipynb</a:t>
            </a:r>
            <a:endParaRPr lang="en-US" sz="1100" dirty="0"/>
          </a:p>
        </p:txBody>
      </p:sp>
      <p:pic>
        <p:nvPicPr>
          <p:cNvPr id="6" name="Image 0" descr="/home/harshit-verma/Desktop/Quanti/noise_qec/plots/pL_per_T_stim_rotated_R8_p1q0.001_pmeas0.002_p2q0.005_X_idep0.001_lin0.001.png">    </p:cNvPr>
          <p:cNvPicPr>
            <a:picLocks noChangeAspect="1"/>
          </p:cNvPicPr>
          <p:nvPr/>
        </p:nvPicPr>
        <p:blipFill>
          <a:blip r:embed="rId1"/>
          <a:stretch>
            <a:fillRect/>
          </a:stretch>
        </p:blipFill>
        <p:spPr>
          <a:xfrm>
            <a:off x="457200" y="1280160"/>
            <a:ext cx="7223760" cy="2499685"/>
          </a:xfrm>
          <a:prstGeom prst="rect">
            <a:avLst/>
          </a:prstGeom>
        </p:spPr>
      </p:pic>
      <p:sp>
        <p:nvSpPr>
          <p:cNvPr id="7" name="Text 4"/>
          <p:cNvSpPr txBox="1"/>
          <p:nvPr/>
        </p:nvSpPr>
        <p:spPr>
          <a:xfrm>
            <a:off x="457200" y="3840480"/>
            <a:ext cx="7223760" cy="411480"/>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The same Selene shots (rotated d = 3, p_1q = 0.0005, p_meas = 0.002, T = 96), decoded two ways.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046720" y="1325880"/>
          <a:ext cx="3685032" cy="2304288"/>
        </p:xfrm>
        <a:graphic>
          <a:graphicData uri="http://schemas.openxmlformats.org/drawingml/2006/table">
            <a:tbl>
              <a:tblPr/>
              <a:tblGrid>
                <a:gridCol w="921258"/>
                <a:gridCol w="2763774"/>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Δt</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p_L: hand-built / full model</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0.216 / 0.031  (7.0×)</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0.075 / 0.014  (5.4×)</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0.043 / 0.013  (3.4×)</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0.031 / 0.012  (2.6×)</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0.020 / 0.014  (1.4×)</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57200" y="4343400"/>
            <a:ext cx="11247120" cy="132588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06a: </a:t>
            </a:r>
            <a:r>
              <a:rPr lang="en-US" sz="1300" dirty="0">
                <a:solidFill>
                  <a:srgbClr val="17212B"/>
                </a:solidFill>
                <a:latin typeface="Calibri" pitchFamily="34" charset="0"/>
                <a:ea typeface="Calibri" pitchFamily="34" charset="-122"/>
                <a:cs typeface="Calibri" pitchFamily="34" charset="-120"/>
              </a:rPr>
              <a:t>a gate-for-gate Stim copy of Selene's compiled circuit is statistically indistinguishable from Selene (d = 3, 5, 7), so Stim supplies the full detector error model.</a:t>
            </a:r>
            <a:endParaRPr lang="en-US" sz="1300" dirty="0"/>
          </a:p>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06b: </a:t>
            </a:r>
            <a:r>
              <a:rPr lang="en-US" sz="1300" dirty="0">
                <a:solidFill>
                  <a:srgbClr val="17212B"/>
                </a:solidFill>
                <a:latin typeface="Calibri" pitchFamily="34" charset="0"/>
                <a:ea typeface="Calibri" pitchFamily="34" charset="-122"/>
                <a:cs typeface="Calibri" pitchFamily="34" charset="-120"/>
              </a:rPr>
              <a:t>the full model wins all 50 blocks (d = 3) and all 368 (d = 5). The hand-built graph has no edges for faults inside the round (3–14% of fault probability).</a:t>
            </a:r>
            <a:endParaRPr lang="en-US" sz="1300" dirty="0"/>
          </a:p>
        </p:txBody>
      </p:sp>
      <p:sp>
        <p:nvSpPr>
          <p:cNvPr id="10" name="Shape 6"/>
          <p:cNvSpPr/>
          <p:nvPr/>
        </p:nvSpPr>
        <p:spPr>
          <a:xfrm>
            <a:off x="457200" y="5833872"/>
            <a:ext cx="11277295" cy="658368"/>
          </a:xfrm>
          <a:prstGeom prst="roundRect">
            <a:avLst>
              <a:gd name="adj" fmla="val 11111"/>
            </a:avLst>
          </a:prstGeom>
          <a:solidFill>
            <a:srgbClr val="FDF0E8"/>
          </a:solidFill>
          <a:ln w="12700">
            <a:solidFill>
              <a:srgbClr val="FDF0E8"/>
            </a:solidFill>
            <a:prstDash val="solid"/>
          </a:ln>
        </p:spPr>
      </p:sp>
      <p:sp>
        <p:nvSpPr>
          <p:cNvPr id="11" name="Text 7"/>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E8692F"/>
                </a:solidFill>
                <a:latin typeface="Calibri" pitchFamily="34" charset="0"/>
                <a:ea typeface="Calibri" pitchFamily="34" charset="-122"/>
                <a:cs typeface="Calibri" pitchFamily="34" charset="-120"/>
              </a:rPr>
              <a:t xml:space="preserve">Why it matters:  </a:t>
            </a:r>
            <a:r>
              <a:rPr lang="en-US" sz="1400" dirty="0">
                <a:solidFill>
                  <a:srgbClr val="17212B"/>
                </a:solidFill>
                <a:latin typeface="Calibri" pitchFamily="34" charset="0"/>
                <a:ea typeface="Calibri" pitchFamily="34" charset="-122"/>
                <a:cs typeface="Calibri" pitchFamily="34" charset="-120"/>
              </a:rPr>
              <a:t>a decoder built from the paper's simple picture misses faults inside the round and hides the optimum entirely. The full error model is required.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8</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dirty="0">
                <a:solidFill>
                  <a:srgbClr val="17212B"/>
                </a:solidFill>
                <a:latin typeface="Cambria" pitchFamily="34" charset="0"/>
                <a:ea typeface="Cambria" pitchFamily="34" charset="-122"/>
                <a:cs typeface="Cambria" pitchFamily="34" charset="-120"/>
              </a:rPr>
              <a:t>Selene shows the optimum at d = 3, 5, 7</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notebooks/06c_selene_interval.ipynb · rotated, p_1q = 0.0005, p_meas = 0.002, T = 96</a:t>
            </a:r>
            <a:endParaRPr lang="en-US" sz="1100" dirty="0"/>
          </a:p>
        </p:txBody>
      </p:sp>
      <p:pic>
        <p:nvPicPr>
          <p:cNvPr id="6" name="Image 0" descr="/home/harshit-verma/Desktop/Quanti/noise_qec/notebooks/figures/07a_decay_rate_vs_tau.png">    </p:cNvPr>
          <p:cNvPicPr>
            <a:picLocks noChangeAspect="1"/>
          </p:cNvPicPr>
          <p:nvPr/>
        </p:nvPicPr>
        <p:blipFill>
          <a:blip r:embed="rId1"/>
          <a:stretch>
            <a:fillRect/>
          </a:stretch>
        </p:blipFill>
        <p:spPr>
          <a:xfrm>
            <a:off x="457200" y="1280160"/>
            <a:ext cx="7680960" cy="2944368"/>
          </a:xfrm>
          <a:prstGeom prst="rect">
            <a:avLst/>
          </a:prstGeom>
        </p:spPr>
      </p:pic>
      <p:sp>
        <p:nvSpPr>
          <p:cNvPr id="7" name="Shape 4"/>
          <p:cNvSpPr/>
          <p:nvPr/>
        </p:nvSpPr>
        <p:spPr>
          <a:xfrm>
            <a:off x="8458200" y="1325880"/>
            <a:ext cx="3273552" cy="2148840"/>
          </a:xfrm>
          <a:prstGeom prst="roundRect">
            <a:avLst>
              <a:gd name="adj" fmla="val 3404"/>
            </a:avLst>
          </a:prstGeom>
          <a:solidFill>
            <a:srgbClr val="EEF2F5"/>
          </a:solidFill>
          <a:ln w="12700">
            <a:solidFill>
              <a:srgbClr val="EEF2F5"/>
            </a:solidFill>
            <a:prstDash val="solid"/>
          </a:ln>
        </p:spPr>
      </p:sp>
      <p:sp>
        <p:nvSpPr>
          <p:cNvPr id="8" name="Text 5"/>
          <p:cNvSpPr txBox="1"/>
          <p:nvPr/>
        </p:nvSpPr>
        <p:spPr>
          <a:xfrm>
            <a:off x="8641080" y="1417320"/>
            <a:ext cx="2971800" cy="2011680"/>
          </a:xfrm>
          <a:prstGeom prst="rect">
            <a:avLst/>
          </a:prstGeom>
          <a:noFill/>
          <a:ln/>
        </p:spPr>
        <p:txBody>
          <a:bodyPr wrap="square" lIns="0" tIns="0" rIns="0" bIns="0" rtlCol="0" anchor="t"/>
          <a:lstStyle/>
          <a:p>
            <a:pPr indent="0" marL="0">
              <a:spcAft>
                <a:spcPts val="400"/>
              </a:spcAft>
              <a:buNone/>
            </a:pPr>
            <a:r>
              <a:rPr lang="en-US" sz="1600" dirty="0">
                <a:solidFill>
                  <a:srgbClr val="1F3A4D"/>
                </a:solidFill>
                <a:latin typeface="Cambria" pitchFamily="34" charset="0"/>
                <a:ea typeface="Cambria" pitchFamily="34" charset="-122"/>
                <a:cs typeface="Cambria" pitchFamily="34" charset="-120"/>
              </a:rPr>
              <a:t>Δt*: Selene vs paper's model</a:t>
            </a:r>
            <a:endParaRPr lang="en-US" sz="1200" dirty="0"/>
          </a:p>
          <a:p>
            <a:pPr indent="0" marL="0">
              <a:spcAft>
                <a:spcPts val="400"/>
              </a:spcAft>
              <a:buNone/>
            </a:pPr>
            <a:r>
              <a:rPr lang="en-US" sz="1200" dirty="0">
                <a:solidFill>
                  <a:srgbClr val="17212B"/>
                </a:solidFill>
                <a:latin typeface="Courier New" pitchFamily="34" charset="0"/>
                <a:ea typeface="Courier New" pitchFamily="34" charset="-122"/>
                <a:cs typeface="Courier New" pitchFamily="34" charset="-120"/>
              </a:rPr>
              <a:t>d=3  12.0±0.9  vs  16.6±2.6</a:t>
            </a:r>
            <a:endParaRPr lang="en-US" sz="1200" dirty="0"/>
          </a:p>
          <a:p>
            <a:pPr indent="0" marL="0">
              <a:spcAft>
                <a:spcPts val="400"/>
              </a:spcAft>
              <a:buNone/>
            </a:pPr>
            <a:r>
              <a:rPr lang="en-US" sz="1200" dirty="0">
                <a:solidFill>
                  <a:srgbClr val="17212B"/>
                </a:solidFill>
                <a:latin typeface="Courier New" pitchFamily="34" charset="0"/>
                <a:ea typeface="Courier New" pitchFamily="34" charset="-122"/>
                <a:cs typeface="Courier New" pitchFamily="34" charset="-120"/>
              </a:rPr>
              <a:t>d=5   5.1±0.4  vs   5.7±0.2</a:t>
            </a:r>
            <a:endParaRPr lang="en-US" sz="1200" dirty="0"/>
          </a:p>
          <a:p>
            <a:pPr indent="0" marL="0">
              <a:spcAft>
                <a:spcPts val="400"/>
              </a:spcAft>
              <a:buNone/>
            </a:pPr>
            <a:r>
              <a:rPr lang="en-US" sz="1200" dirty="0">
                <a:solidFill>
                  <a:srgbClr val="17212B"/>
                </a:solidFill>
                <a:latin typeface="Courier New" pitchFamily="34" charset="0"/>
                <a:ea typeface="Courier New" pitchFamily="34" charset="-122"/>
                <a:cs typeface="Courier New" pitchFamily="34" charset="-120"/>
              </a:rPr>
              <a:t>d=7   3.4±0.4  vs   3.4±0.2</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No fitting: the model's parameters come from 04's calibration.</a:t>
            </a:r>
            <a:endParaRPr lang="en-US" sz="1200" dirty="0"/>
          </a:p>
        </p:txBody>
      </p:sp>
      <p:sp>
        <p:nvSpPr>
          <p:cNvPr id="9" name="Text 6"/>
          <p:cNvSpPr txBox="1"/>
          <p:nvPr/>
        </p:nvSpPr>
        <p:spPr>
          <a:xfrm>
            <a:off x="8458200" y="3657600"/>
            <a:ext cx="3291840" cy="731520"/>
          </a:xfrm>
          <a:prstGeom prst="rect">
            <a:avLst/>
          </a:prstGeom>
          <a:noFill/>
          <a:ln/>
        </p:spPr>
        <p:txBody>
          <a:bodyPr wrap="square" lIns="0" tIns="0" rIns="0" bIns="0" rtlCol="0" anchor="ctr"/>
          <a:lstStyle/>
          <a:p>
            <a:pPr indent="0" marL="0">
              <a:buNone/>
            </a:pPr>
            <a:r>
              <a:rPr lang="en-US" sz="3200" dirty="0">
                <a:solidFill>
                  <a:srgbClr val="1A9E77"/>
                </a:solidFill>
                <a:latin typeface="Cambria" pitchFamily="34" charset="0"/>
                <a:ea typeface="Cambria" pitchFamily="34" charset="-122"/>
                <a:cs typeface="Cambria" pitchFamily="34" charset="-120"/>
              </a:rPr>
              <a:t>12 → 5 → 3.4</a:t>
            </a:r>
            <a:endParaRPr lang="en-US" sz="4000" dirty="0"/>
          </a:p>
        </p:txBody>
      </p:sp>
      <p:sp>
        <p:nvSpPr>
          <p:cNvPr id="10" name="Text 7"/>
          <p:cNvSpPr txBox="1"/>
          <p:nvPr/>
        </p:nvSpPr>
        <p:spPr>
          <a:xfrm>
            <a:off x="8458200" y="4389120"/>
            <a:ext cx="329184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Δt* at d = 3, 5, 7: it shortens with distance, as the paper predicts.</a:t>
            </a:r>
            <a:endParaRPr lang="en-US" sz="1200" dirty="0"/>
          </a:p>
        </p:txBody>
      </p:sp>
      <p:sp>
        <p:nvSpPr>
          <p:cNvPr id="11" name="Text 8"/>
          <p:cNvSpPr txBox="1"/>
          <p:nvPr/>
        </p:nvSpPr>
        <p:spPr>
          <a:xfrm>
            <a:off x="457200" y="4389120"/>
            <a:ext cx="7680960" cy="548640"/>
          </a:xfrm>
          <a:prstGeom prst="rect">
            <a:avLst/>
          </a:prstGeom>
          <a:noFill/>
          <a:ln/>
        </p:spPr>
        <p:txBody>
          <a:bodyPr wrap="square" lIns="0" tIns="0" rIns="0" bIns="0" rtlCol="0" anchor="ctr"/>
          <a:lstStyle/>
          <a:p>
            <a:pPr indent="0" marL="0">
              <a:buNone/>
            </a:pPr>
            <a:r>
              <a:rPr lang="en-US" sz="1200" dirty="0">
                <a:solidFill>
                  <a:srgbClr val="5B6770"/>
                </a:solidFill>
                <a:latin typeface="Calibri" pitchFamily="34" charset="0"/>
                <a:ea typeface="Calibri" pitchFamily="34" charset="-122"/>
                <a:cs typeface="Calibri" pitchFamily="34" charset="-120"/>
              </a:rPr>
              <a:t>Selene: 50k (d=3) and 460k (d=5, 7) shots per point, full error-model decoder. Line: fitted Δt*.</a:t>
            </a:r>
            <a:endParaRPr lang="en-US" sz="1200" dirty="0"/>
          </a:p>
        </p:txBody>
      </p:sp>
      <p:sp>
        <p:nvSpPr>
          <p:cNvPr id="12" name="Text 9"/>
          <p:cNvSpPr txBox="1"/>
          <p:nvPr/>
        </p:nvSpPr>
        <p:spPr>
          <a:xfrm>
            <a:off x="457200" y="4937760"/>
            <a:ext cx="7680960" cy="82296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Interval, not round count: </a:t>
            </a:r>
            <a:r>
              <a:rPr lang="en-US" sz="1300" dirty="0">
                <a:solidFill>
                  <a:srgbClr val="17212B"/>
                </a:solidFill>
                <a:latin typeface="Calibri" pitchFamily="34" charset="0"/>
                <a:ea typeface="Calibri" pitchFamily="34" charset="-122"/>
                <a:cs typeface="Calibri" pitchFamily="34" charset="-120"/>
              </a:rPr>
              <a:t>doubling T keeps Δt* at 12 (d = 3) while N doubles.</a:t>
            </a:r>
            <a:endParaRPr lang="en-US" sz="1300" dirty="0"/>
          </a:p>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p_L gap grows with d: </a:t>
            </a:r>
            <a:r>
              <a:rPr lang="en-US" sz="1300" dirty="0">
                <a:solidFill>
                  <a:srgbClr val="17212B"/>
                </a:solidFill>
                <a:latin typeface="Calibri" pitchFamily="34" charset="0"/>
                <a:ea typeface="Calibri" pitchFamily="34" charset="-122"/>
                <a:cs typeface="Calibri" pitchFamily="34" charset="-120"/>
              </a:rPr>
              <a:t>Selene/model 0.82–1.10, 1.02–1.13, 1.26–1.41; a near-constant factor at d = 7.</a:t>
            </a:r>
            <a:endParaRPr lang="en-US" sz="1300" dirty="0"/>
          </a:p>
        </p:txBody>
      </p:sp>
      <p:sp>
        <p:nvSpPr>
          <p:cNvPr id="13" name="Shape 10"/>
          <p:cNvSpPr/>
          <p:nvPr/>
        </p:nvSpPr>
        <p:spPr>
          <a:xfrm>
            <a:off x="457200" y="5833872"/>
            <a:ext cx="11277295" cy="658368"/>
          </a:xfrm>
          <a:prstGeom prst="roundRect">
            <a:avLst>
              <a:gd name="adj" fmla="val 11111"/>
            </a:avLst>
          </a:prstGeom>
          <a:solidFill>
            <a:srgbClr val="E6F4EF"/>
          </a:solidFill>
          <a:ln w="12700">
            <a:solidFill>
              <a:srgbClr val="E6F4EF"/>
            </a:solidFill>
            <a:prstDash val="solid"/>
          </a:ln>
        </p:spPr>
      </p:sp>
      <p:sp>
        <p:nvSpPr>
          <p:cNvPr id="14" name="Text 11"/>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1A9E77"/>
                </a:solidFill>
                <a:latin typeface="Calibri" pitchFamily="34" charset="0"/>
                <a:ea typeface="Calibri" pitchFamily="34" charset="-122"/>
                <a:cs typeface="Calibri" pitchFamily="34" charset="-120"/>
              </a:rPr>
              <a:t xml:space="preserve">Main result:  </a:t>
            </a:r>
            <a:r>
              <a:rPr lang="en-US" sz="1400" dirty="0">
                <a:solidFill>
                  <a:srgbClr val="17212B"/>
                </a:solidFill>
                <a:latin typeface="Calibri" pitchFamily="34" charset="0"/>
                <a:ea typeface="Calibri" pitchFamily="34" charset="-122"/>
                <a:cs typeface="Calibri" pitchFamily="34" charset="-120"/>
              </a:rPr>
              <a:t>an interior optimum under Selene's own noise at every distance, located by the paper's model with no fitted parameter.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9</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dirty="0">
                <a:solidFill>
                  <a:srgbClr val="17212B"/>
                </a:solidFill>
                <a:latin typeface="Cambria" pitchFamily="34" charset="0"/>
                <a:ea typeface="Cambria" pitchFamily="34" charset="-122"/>
                <a:cs typeface="Cambria" pitchFamily="34" charset="-120"/>
              </a:rPr>
              <a:t>How the optimum scales with distance</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06c §4 · Eq. 6:  λ·Δt* = 1/(α − 1),  α = g(d + 1)/2</a:t>
            </a:r>
            <a:endParaRPr lang="en-US" sz="1100" dirty="0"/>
          </a:p>
        </p:txBody>
      </p:sp>
      <p:pic>
        <p:nvPicPr>
          <p:cNvPr id="6" name="Image 0" descr="/home/harshit-verma/Desktop/Quanti/noise_qec/notebooks/figures/07a_decay_rate_vs_tau.png">    </p:cNvPr>
          <p:cNvPicPr>
            <a:picLocks noChangeAspect="1"/>
          </p:cNvPicPr>
          <p:nvPr/>
        </p:nvPicPr>
        <p:blipFill>
          <a:blip r:embed="rId1"/>
          <a:stretch>
            <a:fillRect/>
          </a:stretch>
        </p:blipFill>
        <p:spPr>
          <a:xfrm>
            <a:off x="1969494" y="1280160"/>
            <a:ext cx="4656370" cy="2990088"/>
          </a:xfrm>
          <a:prstGeom prst="rect">
            <a:avLst/>
          </a:prstGeom>
        </p:spPr>
      </p:pic>
      <p:sp>
        <p:nvSpPr>
          <p:cNvPr id="7" name="Shape 4"/>
          <p:cNvSpPr/>
          <p:nvPr/>
        </p:nvSpPr>
        <p:spPr>
          <a:xfrm>
            <a:off x="8458200" y="1325880"/>
            <a:ext cx="3273552" cy="2148840"/>
          </a:xfrm>
          <a:prstGeom prst="roundRect">
            <a:avLst>
              <a:gd name="adj" fmla="val 3404"/>
            </a:avLst>
          </a:prstGeom>
          <a:solidFill>
            <a:srgbClr val="EEF2F5"/>
          </a:solidFill>
          <a:ln w="12700">
            <a:solidFill>
              <a:srgbClr val="EEF2F5"/>
            </a:solidFill>
            <a:prstDash val="solid"/>
          </a:ln>
        </p:spPr>
      </p:sp>
      <p:sp>
        <p:nvSpPr>
          <p:cNvPr id="8" name="Text 5"/>
          <p:cNvSpPr txBox="1"/>
          <p:nvPr/>
        </p:nvSpPr>
        <p:spPr>
          <a:xfrm>
            <a:off x="8641080" y="1417320"/>
            <a:ext cx="2971800" cy="2011680"/>
          </a:xfrm>
          <a:prstGeom prst="rect">
            <a:avLst/>
          </a:prstGeom>
          <a:noFill/>
          <a:ln/>
        </p:spPr>
        <p:txBody>
          <a:bodyPr wrap="square" lIns="0" tIns="0" rIns="0" bIns="0" rtlCol="0" anchor="t"/>
          <a:lstStyle/>
          <a:p>
            <a:pPr indent="0" marL="0">
              <a:spcAft>
                <a:spcPts val="400"/>
              </a:spcAft>
              <a:buNone/>
            </a:pPr>
            <a:r>
              <a:rPr lang="en-US" sz="1600" dirty="0">
                <a:solidFill>
                  <a:srgbClr val="1F3A4D"/>
                </a:solidFill>
                <a:latin typeface="Cambria" pitchFamily="34" charset="0"/>
                <a:ea typeface="Cambria" pitchFamily="34" charset="-122"/>
                <a:cs typeface="Cambria" pitchFamily="34" charset="-120"/>
              </a:rPr>
              <a:t>What Eq. 6 gets right</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1/(λΔt*) is a straight line in d (χ² = 0.03, 1 dof).</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Δt*(5)/Δt*(7) = 1.48 ± 0.19; Eq. 6 says 1.45–1.51.</a:t>
            </a:r>
            <a:endParaRPr lang="en-US" sz="1200" dirty="0"/>
          </a:p>
          <a:p>
            <a:pPr indent="0" marL="0">
              <a:spcAft>
                <a:spcPts val="400"/>
              </a:spcAft>
              <a:buNone/>
            </a:pPr>
            <a:r>
              <a:rPr lang="en-US" sz="1200" dirty="0">
                <a:solidFill>
                  <a:srgbClr val="17212B"/>
                </a:solidFill>
                <a:latin typeface="Courier New" pitchFamily="34" charset="0"/>
                <a:ea typeface="Courier New" pitchFamily="34" charset="-122"/>
                <a:cs typeface="Courier New" pitchFamily="34" charset="-120"/>
              </a:rPr>
              <a:t>g implied: 0.79, 0.88, 0.92</a:t>
            </a:r>
            <a:endParaRPr lang="en-US" sz="1200" dirty="0"/>
          </a:p>
        </p:txBody>
      </p:sp>
      <p:sp>
        <p:nvSpPr>
          <p:cNvPr id="9" name="Text 6"/>
          <p:cNvSpPr txBox="1"/>
          <p:nvPr/>
        </p:nvSpPr>
        <p:spPr>
          <a:xfrm>
            <a:off x="8458200" y="3657600"/>
            <a:ext cx="3291840" cy="731520"/>
          </a:xfrm>
          <a:prstGeom prst="rect">
            <a:avLst/>
          </a:prstGeom>
          <a:noFill/>
          <a:ln/>
        </p:spPr>
        <p:txBody>
          <a:bodyPr wrap="square" lIns="0" tIns="0" rIns="0" bIns="0" rtlCol="0" anchor="ctr"/>
          <a:lstStyle/>
          <a:p>
            <a:pPr indent="0" marL="0">
              <a:buNone/>
            </a:pPr>
            <a:r>
              <a:rPr lang="en-US" sz="3200" dirty="0">
                <a:solidFill>
                  <a:srgbClr val="1A9E77"/>
                </a:solidFill>
                <a:latin typeface="Cambria" pitchFamily="34" charset="0"/>
                <a:ea typeface="Cambria" pitchFamily="34" charset="-122"/>
                <a:cs typeface="Cambria" pitchFamily="34" charset="-120"/>
              </a:rPr>
              <a:t>g = 1.06 ± 0.10</a:t>
            </a:r>
            <a:endParaRPr lang="en-US" sz="4000" dirty="0"/>
          </a:p>
        </p:txBody>
      </p:sp>
      <p:sp>
        <p:nvSpPr>
          <p:cNvPr id="10" name="Text 7"/>
          <p:cNvSpPr txBox="1"/>
          <p:nvPr/>
        </p:nvSpPr>
        <p:spPr>
          <a:xfrm>
            <a:off x="8458200" y="4389120"/>
            <a:ext cx="329184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from the slope of 1/(λΔt*) against d; the paper's 0.8 (fitted at d = 11–27) is 2.7σ away.</a:t>
            </a:r>
            <a:endParaRPr lang="en-US" sz="1200" dirty="0"/>
          </a:p>
        </p:txBody>
      </p:sp>
      <p:sp>
        <p:nvSpPr>
          <p:cNvPr id="11" name="Text 8"/>
          <p:cNvSpPr txBox="1"/>
          <p:nvPr/>
        </p:nvSpPr>
        <p:spPr>
          <a:xfrm>
            <a:off x="457200" y="4389120"/>
            <a:ext cx="7680960" cy="548640"/>
          </a:xfrm>
          <a:prstGeom prst="rect">
            <a:avLst/>
          </a:prstGeom>
          <a:noFill/>
          <a:ln/>
        </p:spPr>
        <p:txBody>
          <a:bodyPr wrap="square" lIns="0" tIns="0" rIns="0" bIns="0" rtlCol="0" anchor="ctr"/>
          <a:lstStyle/>
          <a:p>
            <a:pPr indent="0" marL="0">
              <a:buNone/>
            </a:pPr>
            <a:r>
              <a:rPr lang="en-US" sz="1200" dirty="0">
                <a:solidFill>
                  <a:srgbClr val="5B6770"/>
                </a:solidFill>
                <a:latin typeface="Calibri" pitchFamily="34" charset="0"/>
                <a:ea typeface="Calibri" pitchFamily="34" charset="-122"/>
                <a:cs typeface="Calibri" pitchFamily="34" charset="-120"/>
              </a:rPr>
              <a:t>Band: Eq. 6 with g = 0.70–0.8. Points: sweep fits, Selene (blue) and the paper's model (black).</a:t>
            </a:r>
            <a:endParaRPr lang="en-US" sz="1200" dirty="0"/>
          </a:p>
        </p:txBody>
      </p:sp>
      <p:sp>
        <p:nvSpPr>
          <p:cNvPr id="12" name="Text 9"/>
          <p:cNvSpPr txBox="1"/>
          <p:nvPr/>
        </p:nvSpPr>
        <p:spPr>
          <a:xfrm>
            <a:off x="457200" y="4937760"/>
            <a:ext cx="7680960" cy="82296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Form holds: </a:t>
            </a:r>
            <a:r>
              <a:rPr lang="en-US" sz="1300" dirty="0">
                <a:solidFill>
                  <a:srgbClr val="17212B"/>
                </a:solidFill>
                <a:latin typeface="Calibri" pitchFamily="34" charset="0"/>
                <a:ea typeface="Calibri" pitchFamily="34" charset="-122"/>
                <a:cs typeface="Calibri" pitchFamily="34" charset="-120"/>
              </a:rPr>
              <a:t>Δt* shortens with d along Eq. 6's straight line.</a:t>
            </a:r>
            <a:endParaRPr lang="en-US" sz="1300" dirty="0"/>
          </a:p>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Constant doesn't: </a:t>
            </a:r>
            <a:r>
              <a:rPr lang="en-US" sz="1300" dirty="0">
                <a:solidFill>
                  <a:srgbClr val="17212B"/>
                </a:solidFill>
                <a:latin typeface="Calibri" pitchFamily="34" charset="0"/>
                <a:ea typeface="Calibri" pitchFamily="34" charset="-122"/>
                <a:cs typeface="Calibri" pitchFamily="34" charset="-120"/>
              </a:rPr>
              <a:t>slope and intercept need different g, and the implied g rises with d.</a:t>
            </a:r>
            <a:endParaRPr lang="en-US" sz="1300" dirty="0"/>
          </a:p>
        </p:txBody>
      </p:sp>
      <p:sp>
        <p:nvSpPr>
          <p:cNvPr id="13" name="Shape 10"/>
          <p:cNvSpPr/>
          <p:nvPr/>
        </p:nvSpPr>
        <p:spPr>
          <a:xfrm>
            <a:off x="457200" y="5833872"/>
            <a:ext cx="11277295" cy="658368"/>
          </a:xfrm>
          <a:prstGeom prst="roundRect">
            <a:avLst>
              <a:gd name="adj" fmla="val 11111"/>
            </a:avLst>
          </a:prstGeom>
          <a:solidFill>
            <a:srgbClr val="E6F4EF"/>
          </a:solidFill>
          <a:ln w="12700">
            <a:solidFill>
              <a:srgbClr val="E6F4EF"/>
            </a:solidFill>
            <a:prstDash val="solid"/>
          </a:ln>
        </p:spPr>
      </p:sp>
      <p:sp>
        <p:nvSpPr>
          <p:cNvPr id="14" name="Text 11"/>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1A9E77"/>
                </a:solidFill>
                <a:latin typeface="Calibri" pitchFamily="34" charset="0"/>
                <a:ea typeface="Calibri" pitchFamily="34" charset="-122"/>
                <a:cs typeface="Calibri" pitchFamily="34" charset="-120"/>
              </a:rPr>
              <a:t xml:space="preserve">Reading:  </a:t>
            </a:r>
            <a:r>
              <a:rPr lang="en-US" sz="1400" dirty="0">
                <a:solidFill>
                  <a:srgbClr val="17212B"/>
                </a:solidFill>
                <a:latin typeface="Calibri" pitchFamily="34" charset="0"/>
                <a:ea typeface="Calibri" pitchFamily="34" charset="-122"/>
                <a:cs typeface="Calibri" pitchFamily="34" charset="-120"/>
              </a:rPr>
              <a:t>Eq. 6's shape survives at d ≤ 7; its single constant g does not. d = 9 would show whether g keeps rising.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11</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dirty="0">
                <a:solidFill>
                  <a:srgbClr val="17212B"/>
                </a:solidFill>
                <a:latin typeface="Cambria" pitchFamily="34" charset="0"/>
                <a:ea typeface="Cambria" pitchFamily="34" charset="-122"/>
                <a:cs typeface="Cambria" pitchFamily="34" charset="-120"/>
              </a:rPr>
              <a:t>Physical idle noise: dephasing (Stim)</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notebooks/07_dephasing_interval.ipynb · idle error per interval q(Δt) = γΔt + sin²(√c·Δt)</a:t>
            </a:r>
            <a:endParaRPr lang="en-US" sz="1100" dirty="0"/>
          </a:p>
        </p:txBody>
      </p:sp>
      <p:pic>
        <p:nvPicPr>
          <p:cNvPr id="6" name="Image 0" descr="/home/harshit-verma/Desktop/Quanti/noise_qec/plots/pL_per_T_stim_rotated_R8_p1q0.001_pmeas0.002_p2q0.005_X_idep0.001_lin0.001.png">    </p:cNvPr>
          <p:cNvPicPr>
            <a:picLocks noChangeAspect="1"/>
          </p:cNvPicPr>
          <p:nvPr/>
        </p:nvPicPr>
        <p:blipFill>
          <a:blip r:embed="rId1"/>
          <a:stretch>
            <a:fillRect/>
          </a:stretch>
        </p:blipFill>
        <p:spPr>
          <a:xfrm>
            <a:off x="457200" y="1280160"/>
            <a:ext cx="7223760" cy="2674427"/>
          </a:xfrm>
          <a:prstGeom prst="rect">
            <a:avLst/>
          </a:prstGeom>
        </p:spPr>
      </p:pic>
      <p:sp>
        <p:nvSpPr>
          <p:cNvPr id="7" name="Text 4"/>
          <p:cNvSpPr txBox="1"/>
          <p:nvPr/>
        </p:nvSpPr>
        <p:spPr>
          <a:xfrm>
            <a:off x="457200" y="4023360"/>
            <a:ext cx="7223760" cy="411480"/>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X-basis memory, H2-1E noise ratios ×4.76, T = 192 t_R, d = 3, 5, 7. Points: simulated Δt*.</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046720" y="1325880"/>
          <a:ext cx="3685032" cy="2304288"/>
        </p:xfrm>
        <a:graphic>
          <a:graphicData uri="http://schemas.openxmlformats.org/drawingml/2006/table">
            <a:tbl>
              <a:tblPr/>
              <a:tblGrid>
                <a:gridCol w="1842516"/>
                <a:gridCol w="1842516"/>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idle noise</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Δt* scales as</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1F3A4D"/>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linear, γΔt</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γ⁻¹  (slope −1.06)</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quadratic, cΔt²</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c^(−1/2)  (slope −0.51)</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d = 3 → 7, linear</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shortens 2.85×</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d = 3 → 7, quadratic</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shortens 1.34×</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mixed (not fitted)</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c>
                  <a:txBody>
                    <a:bodyPr/>
                    <a:lstStyle/>
                    <a:p>
                      <a:pPr indent="0" marL="0">
                        <a:buNone/>
                      </a:pPr>
                      <a:r>
                        <a:rPr lang="en-US" sz="1050" dirty="0">
                          <a:solidFill>
                            <a:srgbClr val="17212B"/>
                          </a:solidFill>
                          <a:latin typeface="Calibri" pitchFamily="34" charset="0"/>
                          <a:ea typeface="Calibri" pitchFamily="34" charset="-122"/>
                          <a:cs typeface="Calibri" pitchFamily="34" charset="-120"/>
                        </a:rPr>
                        <a:t>formula within 5%</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CBD3D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57200" y="4526280"/>
            <a:ext cx="11247120" cy="118872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Why X basis: </a:t>
            </a:r>
            <a:r>
              <a:rPr lang="en-US" sz="1300" dirty="0">
                <a:solidFill>
                  <a:srgbClr val="17212B"/>
                </a:solidFill>
                <a:latin typeface="Calibri" pitchFamily="34" charset="0"/>
                <a:ea typeface="Calibri" pitchFamily="34" charset="-122"/>
                <a:cs typeface="Calibri" pitchFamily="34" charset="-120"/>
              </a:rPr>
              <a:t>trapped-ion idling is Z-only (Quantinuum emulator model); a Z-basis memory cannot see it.</a:t>
            </a:r>
            <a:endParaRPr lang="en-US" sz="1300" dirty="0"/>
          </a:p>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Formula: </a:t>
            </a:r>
            <a:r>
              <a:rPr lang="en-US" sz="1300" dirty="0">
                <a:solidFill>
                  <a:srgbClr val="17212B"/>
                </a:solidFill>
                <a:latin typeface="Calibri" pitchFamily="34" charset="0"/>
                <a:ea typeface="Calibri" pitchFamily="34" charset="-122"/>
                <a:cs typeface="Calibri" pitchFamily="34" charset="-120"/>
              </a:rPr>
              <a:t>R(Δt) = (A/Δt)(1 + q(Δt)/p_e)^α predicts Δt* to about 5%, including a held-out mixed case.</a:t>
            </a:r>
            <a:endParaRPr lang="en-US" sz="1300" dirty="0"/>
          </a:p>
        </p:txBody>
      </p:sp>
      <p:sp>
        <p:nvSpPr>
          <p:cNvPr id="10" name="Shape 6"/>
          <p:cNvSpPr/>
          <p:nvPr/>
        </p:nvSpPr>
        <p:spPr>
          <a:xfrm>
            <a:off x="457200" y="5833872"/>
            <a:ext cx="11277295" cy="658368"/>
          </a:xfrm>
          <a:prstGeom prst="roundRect">
            <a:avLst>
              <a:gd name="adj" fmla="val 11111"/>
            </a:avLst>
          </a:prstGeom>
          <a:solidFill>
            <a:srgbClr val="FDF0E8"/>
          </a:solidFill>
          <a:ln w="12700">
            <a:solidFill>
              <a:srgbClr val="FDF0E8"/>
            </a:solidFill>
            <a:prstDash val="solid"/>
          </a:ln>
        </p:spPr>
      </p:sp>
      <p:sp>
        <p:nvSpPr>
          <p:cNvPr id="11" name="Text 7"/>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E8692F"/>
                </a:solidFill>
                <a:latin typeface="Calibri" pitchFamily="34" charset="0"/>
                <a:ea typeface="Calibri" pitchFamily="34" charset="-122"/>
                <a:cs typeface="Calibri" pitchFamily="34" charset="-120"/>
              </a:rPr>
              <a:t xml:space="preserve">Reading:  </a:t>
            </a:r>
            <a:r>
              <a:rPr lang="en-US" sz="1400" dirty="0">
                <a:solidFill>
                  <a:srgbClr val="17212B"/>
                </a:solidFill>
                <a:latin typeface="Calibri" pitchFamily="34" charset="0"/>
                <a:ea typeface="Calibri" pitchFamily="34" charset="-122"/>
                <a:cs typeface="Calibri" pitchFamily="34" charset="-120"/>
              </a:rPr>
              <a:t>the form of the idle noise sets how Δt* scales. Under quadratic dephasing, distance barely moves it.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13</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dirty="0">
                <a:solidFill>
                  <a:srgbClr val="17212B"/>
                </a:solidFill>
                <a:latin typeface="Cambria" pitchFamily="34" charset="0"/>
                <a:ea typeface="Cambria" pitchFamily="34" charset="-122"/>
                <a:cs typeface="Cambria" pitchFamily="34" charset="-120"/>
              </a:rPr>
              <a:t>On H2: measure back to back</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07 §7b · simulated directly at H2's estimated idle ratio, q(1) ≈ 1.1·p_2q</a:t>
            </a:r>
            <a:endParaRPr lang="en-US" sz="1100" dirty="0"/>
          </a:p>
        </p:txBody>
      </p:sp>
      <p:pic>
        <p:nvPicPr>
          <p:cNvPr id="6" name="Image 0" descr="/home/harshit-verma/Desktop/Quanti/noise_qec/notebooks/figures/07a_decay_rate_vs_tau.png">    </p:cNvPr>
          <p:cNvPicPr>
            <a:picLocks noChangeAspect="1"/>
          </p:cNvPicPr>
          <p:nvPr/>
        </p:nvPicPr>
        <p:blipFill>
          <a:blip r:embed="rId1"/>
          <a:stretch>
            <a:fillRect/>
          </a:stretch>
        </p:blipFill>
        <p:spPr>
          <a:xfrm>
            <a:off x="1375548" y="1280160"/>
            <a:ext cx="5844262" cy="2990088"/>
          </a:xfrm>
          <a:prstGeom prst="rect">
            <a:avLst/>
          </a:prstGeom>
        </p:spPr>
      </p:pic>
      <p:sp>
        <p:nvSpPr>
          <p:cNvPr id="7" name="Shape 4"/>
          <p:cNvSpPr/>
          <p:nvPr/>
        </p:nvSpPr>
        <p:spPr>
          <a:xfrm>
            <a:off x="8458200" y="1325880"/>
            <a:ext cx="3273552" cy="2148840"/>
          </a:xfrm>
          <a:prstGeom prst="roundRect">
            <a:avLst>
              <a:gd name="adj" fmla="val 3404"/>
            </a:avLst>
          </a:prstGeom>
          <a:solidFill>
            <a:srgbClr val="EEF2F5"/>
          </a:solidFill>
          <a:ln w="12700">
            <a:solidFill>
              <a:srgbClr val="EEF2F5"/>
            </a:solidFill>
            <a:prstDash val="solid"/>
          </a:ln>
        </p:spPr>
      </p:sp>
      <p:sp>
        <p:nvSpPr>
          <p:cNvPr id="8" name="Text 5"/>
          <p:cNvSpPr txBox="1"/>
          <p:nvPr/>
        </p:nvSpPr>
        <p:spPr>
          <a:xfrm>
            <a:off x="8641080" y="1417320"/>
            <a:ext cx="2971800" cy="2011680"/>
          </a:xfrm>
          <a:prstGeom prst="rect">
            <a:avLst/>
          </a:prstGeom>
          <a:noFill/>
          <a:ln/>
        </p:spPr>
        <p:txBody>
          <a:bodyPr wrap="square" lIns="0" tIns="0" rIns="0" bIns="0" rtlCol="0" anchor="t"/>
          <a:lstStyle/>
          <a:p>
            <a:pPr indent="0" marL="0">
              <a:spcAft>
                <a:spcPts val="400"/>
              </a:spcAft>
              <a:buNone/>
            </a:pPr>
            <a:r>
              <a:rPr lang="en-US" sz="1600" dirty="0">
                <a:solidFill>
                  <a:srgbClr val="1F3A4D"/>
                </a:solidFill>
                <a:latin typeface="Cambria" pitchFamily="34" charset="0"/>
                <a:ea typeface="Cambria" pitchFamily="34" charset="-122"/>
                <a:cs typeface="Cambria" pitchFamily="34" charset="-120"/>
              </a:rPr>
              <a:t>Best Δt at H2's ratio</a:t>
            </a:r>
            <a:endParaRPr lang="en-US" sz="1200" dirty="0"/>
          </a:p>
          <a:p>
            <a:pPr indent="0" marL="0">
              <a:spcAft>
                <a:spcPts val="400"/>
              </a:spcAft>
              <a:buNone/>
            </a:pPr>
            <a:r>
              <a:rPr lang="en-US" sz="1200" dirty="0">
                <a:solidFill>
                  <a:srgbClr val="17212B"/>
                </a:solidFill>
                <a:latin typeface="Courier New" pitchFamily="34" charset="0"/>
                <a:ea typeface="Courier New" pitchFamily="34" charset="-122"/>
                <a:cs typeface="Courier New" pitchFamily="34" charset="-120"/>
              </a:rPr>
              <a:t>linear, d=3     2.3  (−11%)</a:t>
            </a:r>
            <a:endParaRPr lang="en-US" sz="1200" dirty="0"/>
          </a:p>
          <a:p>
            <a:pPr indent="0" marL="0">
              <a:spcAft>
                <a:spcPts val="400"/>
              </a:spcAft>
              <a:buNone/>
            </a:pPr>
            <a:r>
              <a:rPr lang="en-US" sz="1200" dirty="0">
                <a:solidFill>
                  <a:srgbClr val="17212B"/>
                </a:solidFill>
                <a:latin typeface="Courier New" pitchFamily="34" charset="0"/>
                <a:ea typeface="Courier New" pitchFamily="34" charset="-122"/>
                <a:cs typeface="Courier New" pitchFamily="34" charset="-120"/>
              </a:rPr>
              <a:t>linear, d=5     1</a:t>
            </a:r>
            <a:endParaRPr lang="en-US" sz="1200" dirty="0"/>
          </a:p>
          <a:p>
            <a:pPr indent="0" marL="0">
              <a:spcAft>
                <a:spcPts val="400"/>
              </a:spcAft>
              <a:buNone/>
            </a:pPr>
            <a:r>
              <a:rPr lang="en-US" sz="1200" dirty="0">
                <a:solidFill>
                  <a:srgbClr val="17212B"/>
                </a:solidFill>
                <a:latin typeface="Courier New" pitchFamily="34" charset="0"/>
                <a:ea typeface="Courier New" pitchFamily="34" charset="-122"/>
                <a:cs typeface="Courier New" pitchFamily="34" charset="-120"/>
              </a:rPr>
              <a:t>quadratic, all  1</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Real H2-1E gate rates, d = 3 and 5, 1M shots per point.</a:t>
            </a:r>
            <a:endParaRPr lang="en-US" sz="1200" dirty="0"/>
          </a:p>
        </p:txBody>
      </p:sp>
      <p:sp>
        <p:nvSpPr>
          <p:cNvPr id="9" name="Text 6"/>
          <p:cNvSpPr txBox="1"/>
          <p:nvPr/>
        </p:nvSpPr>
        <p:spPr>
          <a:xfrm>
            <a:off x="8458200" y="3657600"/>
            <a:ext cx="3291840" cy="731520"/>
          </a:xfrm>
          <a:prstGeom prst="rect">
            <a:avLst/>
          </a:prstGeom>
          <a:noFill/>
          <a:ln/>
        </p:spPr>
        <p:txBody>
          <a:bodyPr wrap="square" lIns="0" tIns="0" rIns="0" bIns="0" rtlCol="0" anchor="ctr"/>
          <a:lstStyle/>
          <a:p>
            <a:pPr indent="0" marL="0">
              <a:buNone/>
            </a:pPr>
            <a:r>
              <a:rPr lang="en-US" sz="4000" dirty="0">
                <a:solidFill>
                  <a:srgbClr val="1A9E77"/>
                </a:solidFill>
                <a:latin typeface="Cambria" pitchFamily="34" charset="0"/>
                <a:ea typeface="Cambria" pitchFamily="34" charset="-122"/>
                <a:cs typeface="Cambria" pitchFamily="34" charset="-120"/>
              </a:rPr>
              <a:t>Δt* ≈ 1</a:t>
            </a:r>
            <a:endParaRPr lang="en-US" sz="4000" dirty="0"/>
          </a:p>
        </p:txBody>
      </p:sp>
      <p:sp>
        <p:nvSpPr>
          <p:cNvPr id="10" name="Text 7"/>
          <p:cNvSpPr txBox="1"/>
          <p:nvPr/>
        </p:nvSpPr>
        <p:spPr>
          <a:xfrm>
            <a:off x="8458200" y="4389120"/>
            <a:ext cx="329184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Rounds back to back are best, or within 3%, at every d ≥ 5.</a:t>
            </a:r>
            <a:endParaRPr lang="en-US" sz="1200" dirty="0"/>
          </a:p>
        </p:txBody>
      </p:sp>
      <p:sp>
        <p:nvSpPr>
          <p:cNvPr id="11" name="Text 8"/>
          <p:cNvSpPr txBox="1"/>
          <p:nvPr/>
        </p:nvSpPr>
        <p:spPr>
          <a:xfrm>
            <a:off x="457200" y="4389120"/>
            <a:ext cx="7680960" cy="548640"/>
          </a:xfrm>
          <a:prstGeom prst="rect">
            <a:avLst/>
          </a:prstGeom>
          <a:noFill/>
          <a:ln/>
        </p:spPr>
        <p:txBody>
          <a:bodyPr wrap="square" lIns="0" tIns="0" rIns="0" bIns="0" rtlCol="0" anchor="ctr"/>
          <a:lstStyle/>
          <a:p>
            <a:pPr indent="0" marL="0">
              <a:buNone/>
            </a:pPr>
            <a:r>
              <a:rPr lang="en-US" sz="1200" dirty="0">
                <a:solidFill>
                  <a:srgbClr val="5B6770"/>
                </a:solidFill>
                <a:latin typeface="Calibri" pitchFamily="34" charset="0"/>
                <a:ea typeface="Calibri" pitchFamily="34" charset="-122"/>
                <a:cs typeface="Calibri" pitchFamily="34" charset="-120"/>
              </a:rPr>
              <a:t>R(Δt)/R(1): below 1 means waiting helps. Top: noise ×4.76 (d = 3, 5, 7). Bottom: real H2 rates (d = 3, 5).</a:t>
            </a:r>
            <a:endParaRPr lang="en-US" sz="1200" dirty="0"/>
          </a:p>
        </p:txBody>
      </p:sp>
      <p:sp>
        <p:nvSpPr>
          <p:cNvPr id="12" name="Text 9"/>
          <p:cNvSpPr txBox="1"/>
          <p:nvPr/>
        </p:nvSpPr>
        <p:spPr>
          <a:xfrm>
            <a:off x="457200" y="4937760"/>
            <a:ext cx="7680960" cy="822960"/>
          </a:xfrm>
          <a:prstGeom prst="rect">
            <a:avLst/>
          </a:prstGeom>
          <a:noFill/>
          <a:ln/>
        </p:spPr>
        <p:txBody>
          <a:bodyPr wrap="square" lIns="0" tIns="0" rIns="0" bIns="0" rtlCol="0" anchor="t"/>
          <a:lstStyle/>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Quadratic: </a:t>
            </a:r>
            <a:r>
              <a:rPr lang="en-US" sz="1300" dirty="0">
                <a:solidFill>
                  <a:srgbClr val="17212B"/>
                </a:solidFill>
                <a:latin typeface="Calibri" pitchFamily="34" charset="0"/>
                <a:ea typeface="Calibri" pitchFamily="34" charset="-122"/>
                <a:cs typeface="Calibri" pitchFamily="34" charset="-120"/>
              </a:rPr>
              <a:t>waiting only hurts; R is 2–5× worse already at Δt = 3.</a:t>
            </a:r>
            <a:endParaRPr lang="en-US" sz="1300" dirty="0"/>
          </a:p>
          <a:p>
            <a:pPr marL="203200" indent="-203200">
              <a:spcAft>
                <a:spcPts val="800"/>
              </a:spcAft>
              <a:buSzPct val="100000"/>
              <a:buChar char="•"/>
            </a:pPr>
            <a:r>
              <a:rPr lang="en-US" sz="1300" b="1" dirty="0">
                <a:solidFill>
                  <a:srgbClr val="17212B"/>
                </a:solidFill>
                <a:latin typeface="Calibri" pitchFamily="34" charset="0"/>
                <a:ea typeface="Calibri" pitchFamily="34" charset="-122"/>
                <a:cs typeface="Calibri" pitchFamily="34" charset="-120"/>
              </a:rPr>
              <a:t xml:space="preserve">Linear: </a:t>
            </a:r>
            <a:r>
              <a:rPr lang="en-US" sz="1300" dirty="0">
                <a:solidFill>
                  <a:srgbClr val="17212B"/>
                </a:solidFill>
                <a:latin typeface="Calibri" pitchFamily="34" charset="0"/>
                <a:ea typeface="Calibri" pitchFamily="34" charset="-122"/>
                <a:cs typeface="Calibri" pitchFamily="34" charset="-120"/>
              </a:rPr>
              <a:t>a short wait helps only at d = 3, by 11–16%.</a:t>
            </a:r>
            <a:endParaRPr lang="en-US" sz="1300" dirty="0"/>
          </a:p>
        </p:txBody>
      </p:sp>
      <p:sp>
        <p:nvSpPr>
          <p:cNvPr id="13" name="Shape 10"/>
          <p:cNvSpPr/>
          <p:nvPr/>
        </p:nvSpPr>
        <p:spPr>
          <a:xfrm>
            <a:off x="457200" y="5833872"/>
            <a:ext cx="11277295" cy="658368"/>
          </a:xfrm>
          <a:prstGeom prst="roundRect">
            <a:avLst>
              <a:gd name="adj" fmla="val 11111"/>
            </a:avLst>
          </a:prstGeom>
          <a:solidFill>
            <a:srgbClr val="E6F4EF"/>
          </a:solidFill>
          <a:ln w="12700">
            <a:solidFill>
              <a:srgbClr val="E6F4EF"/>
            </a:solidFill>
            <a:prstDash val="solid"/>
          </a:ln>
        </p:spPr>
      </p:sp>
      <p:sp>
        <p:nvSpPr>
          <p:cNvPr id="14" name="Text 11"/>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1A9E77"/>
                </a:solidFill>
                <a:latin typeface="Calibri" pitchFamily="34" charset="0"/>
                <a:ea typeface="Calibri" pitchFamily="34" charset="-122"/>
                <a:cs typeface="Calibri" pitchFamily="34" charset="-120"/>
              </a:rPr>
              <a:t xml:space="preserve">Caveat:  </a:t>
            </a:r>
            <a:r>
              <a:rPr lang="en-US" sz="1400" dirty="0">
                <a:solidFill>
                  <a:srgbClr val="17212B"/>
                </a:solidFill>
                <a:latin typeface="Calibri" pitchFamily="34" charset="0"/>
                <a:ea typeface="Calibri" pitchFamily="34" charset="-122"/>
                <a:cs typeface="Calibri" pitchFamily="34" charset="-120"/>
              </a:rPr>
              <a:t>H2's idle-to-gate ratio (1.1·p_2q) is assumed from 6 layers per round, not measured.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10</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dirty="0">
                <a:solidFill>
                  <a:srgbClr val="17212B"/>
                </a:solidFill>
                <a:latin typeface="Cambria" pitchFamily="34" charset="0"/>
                <a:ea typeface="Cambria" pitchFamily="34" charset="-122"/>
                <a:cs typeface="Cambria" pitchFamily="34" charset="-120"/>
              </a:rPr>
              <a:t>Every dephasing curve has an interior optimum</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notebooks/07_dephasing_interval.ipynb · rate R against the interval, 6 idle settings × d = 3, 5, 7</a:t>
            </a:r>
            <a:endParaRPr lang="en-US" sz="1100" dirty="0"/>
          </a:p>
        </p:txBody>
      </p:sp>
      <p:pic>
        <p:nvPicPr>
          <p:cNvPr id="6" name="Image 0" descr="/home/harshit-verma/Desktop/Quanti/noise_qec/notebooks/figures/07a_decay_rate_vs_tau.png">    </p:cNvPr>
          <p:cNvPicPr>
            <a:picLocks noChangeAspect="1"/>
          </p:cNvPicPr>
          <p:nvPr/>
        </p:nvPicPr>
        <p:blipFill>
          <a:blip r:embed="rId1"/>
          <a:stretch>
            <a:fillRect/>
          </a:stretch>
        </p:blipFill>
        <p:spPr>
          <a:xfrm>
            <a:off x="482290" y="1234440"/>
            <a:ext cx="7767939" cy="4114800"/>
          </a:xfrm>
          <a:prstGeom prst="rect">
            <a:avLst/>
          </a:prstGeom>
        </p:spPr>
      </p:pic>
      <p:sp>
        <p:nvSpPr>
          <p:cNvPr id="7" name="Shape 4"/>
          <p:cNvSpPr/>
          <p:nvPr/>
        </p:nvSpPr>
        <p:spPr>
          <a:xfrm>
            <a:off x="8458200" y="1325880"/>
            <a:ext cx="3273552" cy="2148840"/>
          </a:xfrm>
          <a:prstGeom prst="roundRect">
            <a:avLst>
              <a:gd name="adj" fmla="val 3404"/>
            </a:avLst>
          </a:prstGeom>
          <a:solidFill>
            <a:srgbClr val="EEF2F5"/>
          </a:solidFill>
          <a:ln w="12700">
            <a:solidFill>
              <a:srgbClr val="EEF2F5"/>
            </a:solidFill>
            <a:prstDash val="solid"/>
          </a:ln>
        </p:spPr>
      </p:sp>
      <p:sp>
        <p:nvSpPr>
          <p:cNvPr id="8" name="Text 5"/>
          <p:cNvSpPr txBox="1"/>
          <p:nvPr/>
        </p:nvSpPr>
        <p:spPr>
          <a:xfrm>
            <a:off x="8641080" y="1417320"/>
            <a:ext cx="2971800" cy="2011680"/>
          </a:xfrm>
          <a:prstGeom prst="rect">
            <a:avLst/>
          </a:prstGeom>
          <a:noFill/>
          <a:ln/>
        </p:spPr>
        <p:txBody>
          <a:bodyPr wrap="square" lIns="0" tIns="0" rIns="0" bIns="0" rtlCol="0" anchor="t"/>
          <a:lstStyle/>
          <a:p>
            <a:pPr indent="0" marL="0">
              <a:spcAft>
                <a:spcPts val="400"/>
              </a:spcAft>
              <a:buNone/>
            </a:pPr>
            <a:r>
              <a:rPr lang="en-US" sz="1600" dirty="0">
                <a:solidFill>
                  <a:srgbClr val="1F3A4D"/>
                </a:solidFill>
                <a:latin typeface="Cambria" pitchFamily="34" charset="0"/>
                <a:ea typeface="Cambria" pitchFamily="34" charset="-122"/>
                <a:cs typeface="Cambria" pitchFamily="34" charset="-120"/>
              </a:rPr>
              <a:t>What the curves show</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Left of the minimum: each round's extraction cost dominates, R falls as 1/Δt.</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Right: idle error per interval dominates and R rises.</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Lines: R(Δt) = (A/Δt)(1 + q/p_e)^α, three constants per d.</a:t>
            </a:r>
            <a:endParaRPr lang="en-US" sz="1200" dirty="0"/>
          </a:p>
        </p:txBody>
      </p:sp>
      <p:sp>
        <p:nvSpPr>
          <p:cNvPr id="9" name="Text 6"/>
          <p:cNvSpPr txBox="1"/>
          <p:nvPr/>
        </p:nvSpPr>
        <p:spPr>
          <a:xfrm>
            <a:off x="8458200" y="3657600"/>
            <a:ext cx="3291840" cy="731520"/>
          </a:xfrm>
          <a:prstGeom prst="rect">
            <a:avLst/>
          </a:prstGeom>
          <a:noFill/>
          <a:ln/>
        </p:spPr>
        <p:txBody>
          <a:bodyPr wrap="square" lIns="0" tIns="0" rIns="0" bIns="0" rtlCol="0" anchor="ctr"/>
          <a:lstStyle/>
          <a:p>
            <a:pPr indent="0" marL="0">
              <a:buNone/>
            </a:pPr>
            <a:r>
              <a:rPr lang="en-US" sz="3200" dirty="0">
                <a:solidFill>
                  <a:srgbClr val="1A9E77"/>
                </a:solidFill>
                <a:latin typeface="Cambria" pitchFamily="34" charset="0"/>
                <a:ea typeface="Cambria" pitchFamily="34" charset="-122"/>
                <a:cs typeface="Cambria" pitchFamily="34" charset="-120"/>
              </a:rPr>
              <a:t>21 / 21</a:t>
            </a:r>
            <a:endParaRPr lang="en-US" sz="4000" dirty="0"/>
          </a:p>
        </p:txBody>
      </p:sp>
      <p:sp>
        <p:nvSpPr>
          <p:cNvPr id="10" name="Text 7"/>
          <p:cNvSpPr txBox="1"/>
          <p:nvPr/>
        </p:nvSpPr>
        <p:spPr>
          <a:xfrm>
            <a:off x="8458200" y="4389120"/>
            <a:ext cx="329184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curves with an interior optimum (18 shown, plus the mixed setting at each d).</a:t>
            </a:r>
            <a:endParaRPr lang="en-US" sz="1200" dirty="0"/>
          </a:p>
        </p:txBody>
      </p:sp>
      <p:sp>
        <p:nvSpPr>
          <p:cNvPr id="11" name="Text 8"/>
          <p:cNvSpPr txBox="1"/>
          <p:nvPr/>
        </p:nvSpPr>
        <p:spPr>
          <a:xfrm>
            <a:off x="457200" y="5413248"/>
            <a:ext cx="7818120" cy="365760"/>
          </a:xfrm>
          <a:prstGeom prst="rect">
            <a:avLst/>
          </a:prstGeom>
          <a:noFill/>
          <a:ln/>
        </p:spPr>
        <p:txBody>
          <a:bodyPr wrap="square" lIns="0" tIns="0" rIns="0" bIns="0" rtlCol="0" anchor="ctr"/>
          <a:lstStyle/>
          <a:p>
            <a:pPr indent="0" marL="0">
              <a:buNone/>
            </a:pPr>
            <a:r>
              <a:rPr lang="en-US" sz="1200" dirty="0">
                <a:solidFill>
                  <a:srgbClr val="5B6770"/>
                </a:solidFill>
                <a:latin typeface="Calibri" pitchFamily="34" charset="0"/>
                <a:ea typeface="Calibri" pitchFamily="34" charset="-122"/>
                <a:cs typeface="Calibri" pitchFamily="34" charset="-120"/>
              </a:rPr>
              <a:t>Points: Stim, X-basis memory, 2 × 100k shots. Dotted: fitted Δt*. Top: linear, bottom: quadratic dephasing.</a:t>
            </a:r>
            <a:endParaRPr lang="en-US" sz="1200" dirty="0"/>
          </a:p>
        </p:txBody>
      </p:sp>
      <p:sp>
        <p:nvSpPr>
          <p:cNvPr id="13" name="Shape 10"/>
          <p:cNvSpPr/>
          <p:nvPr/>
        </p:nvSpPr>
        <p:spPr>
          <a:xfrm>
            <a:off x="457200" y="5833872"/>
            <a:ext cx="11277295" cy="658368"/>
          </a:xfrm>
          <a:prstGeom prst="roundRect">
            <a:avLst>
              <a:gd name="adj" fmla="val 11111"/>
            </a:avLst>
          </a:prstGeom>
          <a:solidFill>
            <a:srgbClr val="E6F4EF"/>
          </a:solidFill>
          <a:ln w="12700">
            <a:solidFill>
              <a:srgbClr val="E6F4EF"/>
            </a:solidFill>
            <a:prstDash val="solid"/>
          </a:ln>
        </p:spPr>
      </p:sp>
      <p:sp>
        <p:nvSpPr>
          <p:cNvPr id="14" name="Text 11"/>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1A9E77"/>
                </a:solidFill>
                <a:latin typeface="Calibri" pitchFamily="34" charset="0"/>
                <a:ea typeface="Calibri" pitchFamily="34" charset="-122"/>
                <a:cs typeface="Calibri" pitchFamily="34" charset="-120"/>
              </a:rPr>
              <a:t xml:space="preserve">Reading:  </a:t>
            </a:r>
            <a:r>
              <a:rPr lang="en-US" sz="1400" dirty="0">
                <a:solidFill>
                  <a:srgbClr val="17212B"/>
                </a:solidFill>
                <a:latin typeface="Calibri" pitchFamily="34" charset="0"/>
                <a:ea typeface="Calibri" pitchFamily="34" charset="-122"/>
                <a:cs typeface="Calibri" pitchFamily="34" charset="-120"/>
              </a:rPr>
              <a:t>stronger idle noise moves the optimum to shorter Δt. Quadratic curves only separate at long Δt, where cΔt² takes over.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1F3A4D"/>
          </a:solidFill>
          <a:ln w="12700">
            <a:solidFill>
              <a:srgbClr val="1F3A4D"/>
            </a:solidFill>
            <a:prstDash val="solid"/>
          </a:ln>
        </p:spPr>
      </p:sp>
      <p:sp>
        <p:nvSpPr>
          <p:cNvPr id="3" name="Text 1"/>
          <p:cNvSpPr txBox="1"/>
          <p:nvPr/>
        </p:nvSpPr>
        <p:spPr>
          <a:xfrm>
            <a:off x="457200" y="384048"/>
            <a:ext cx="566928" cy="566928"/>
          </a:xfrm>
          <a:prstGeom prst="rect">
            <a:avLst/>
          </a:prstGeom>
          <a:no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12</a:t>
            </a:r>
            <a:endParaRPr lang="en-US" sz="1800" dirty="0"/>
          </a:p>
        </p:txBody>
      </p:sp>
      <p:sp>
        <p:nvSpPr>
          <p:cNvPr id="4" name="Text 2"/>
          <p:cNvSpPr txBox="1"/>
          <p:nvPr/>
        </p:nvSpPr>
        <p:spPr>
          <a:xfrm>
            <a:off x="1188720" y="292608"/>
            <a:ext cx="10515600" cy="548640"/>
          </a:xfrm>
          <a:prstGeom prst="rect">
            <a:avLst/>
          </a:prstGeom>
          <a:noFill/>
          <a:ln/>
        </p:spPr>
        <p:txBody>
          <a:bodyPr wrap="square" lIns="0" tIns="0" rIns="0" bIns="0" rtlCol="0" anchor="ctr"/>
          <a:lstStyle/>
          <a:p>
            <a:pPr indent="0" marL="0">
              <a:buNone/>
            </a:pPr>
            <a:r>
              <a:rPr lang="en-US" sz="2800" dirty="0">
                <a:solidFill>
                  <a:srgbClr val="17212B"/>
                </a:solidFill>
                <a:latin typeface="Cambria" pitchFamily="34" charset="0"/>
                <a:ea typeface="Cambria" pitchFamily="34" charset="-122"/>
                <a:cs typeface="Cambria" pitchFamily="34" charset="-120"/>
              </a:rPr>
              <a:t>Where waiting pays: the Δt* map</a:t>
            </a:r>
            <a:endParaRPr lang="en-US" sz="2800" dirty="0"/>
          </a:p>
        </p:txBody>
      </p:sp>
      <p:sp>
        <p:nvSpPr>
          <p:cNvPr id="5" name="Text 3"/>
          <p:cNvSpPr txBox="1"/>
          <p:nvPr/>
        </p:nvSpPr>
        <p:spPr>
          <a:xfrm>
            <a:off x="1188720" y="841248"/>
            <a:ext cx="10515600" cy="274320"/>
          </a:xfrm>
          <a:prstGeom prst="rect">
            <a:avLst/>
          </a:prstGeom>
          <a:noFill/>
          <a:ln/>
        </p:spPr>
        <p:txBody>
          <a:bodyPr wrap="square" lIns="0" tIns="0" rIns="0" bIns="0" rtlCol="0" anchor="ctr"/>
          <a:lstStyle/>
          <a:p>
            <a:pPr indent="0" marL="0">
              <a:buNone/>
            </a:pPr>
            <a:r>
              <a:rPr lang="en-US" sz="1100" dirty="0">
                <a:solidFill>
                  <a:srgbClr val="5B6770"/>
                </a:solidFill>
                <a:latin typeface="Courier New" pitchFamily="34" charset="0"/>
                <a:ea typeface="Courier New" pitchFamily="34" charset="-122"/>
                <a:cs typeface="Courier New" pitchFamily="34" charset="-120"/>
              </a:rPr>
              <a:t>07 §8 · Δt* from the calibrated formula for every mix of linear (γ) and quadratic (c) dephasing</a:t>
            </a:r>
            <a:endParaRPr lang="en-US" sz="1100" dirty="0"/>
          </a:p>
        </p:txBody>
      </p:sp>
      <p:pic>
        <p:nvPicPr>
          <p:cNvPr id="6" name="Image 0" descr="/home/harshit-verma/Desktop/Quanti/noise_qec/notebooks/figures/07a_decay_rate_vs_tau.png">    </p:cNvPr>
          <p:cNvPicPr>
            <a:picLocks noChangeAspect="1"/>
          </p:cNvPicPr>
          <p:nvPr/>
        </p:nvPicPr>
        <p:blipFill>
          <a:blip r:embed="rId1"/>
          <a:stretch>
            <a:fillRect/>
          </a:stretch>
        </p:blipFill>
        <p:spPr>
          <a:xfrm>
            <a:off x="457200" y="1234440"/>
            <a:ext cx="7818120" cy="3532786"/>
          </a:xfrm>
          <a:prstGeom prst="rect">
            <a:avLst/>
          </a:prstGeom>
        </p:spPr>
      </p:pic>
      <p:sp>
        <p:nvSpPr>
          <p:cNvPr id="7" name="Shape 4"/>
          <p:cNvSpPr/>
          <p:nvPr/>
        </p:nvSpPr>
        <p:spPr>
          <a:xfrm>
            <a:off x="8458200" y="1325880"/>
            <a:ext cx="3273552" cy="2148840"/>
          </a:xfrm>
          <a:prstGeom prst="roundRect">
            <a:avLst>
              <a:gd name="adj" fmla="val 3404"/>
            </a:avLst>
          </a:prstGeom>
          <a:solidFill>
            <a:srgbClr val="EEF2F5"/>
          </a:solidFill>
          <a:ln w="12700">
            <a:solidFill>
              <a:srgbClr val="EEF2F5"/>
            </a:solidFill>
            <a:prstDash val="solid"/>
          </a:ln>
        </p:spPr>
      </p:sp>
      <p:sp>
        <p:nvSpPr>
          <p:cNvPr id="8" name="Text 5"/>
          <p:cNvSpPr txBox="1"/>
          <p:nvPr/>
        </p:nvSpPr>
        <p:spPr>
          <a:xfrm>
            <a:off x="8641080" y="1417320"/>
            <a:ext cx="2971800" cy="2011680"/>
          </a:xfrm>
          <a:prstGeom prst="rect">
            <a:avLst/>
          </a:prstGeom>
          <a:noFill/>
          <a:ln/>
        </p:spPr>
        <p:txBody>
          <a:bodyPr wrap="square" lIns="0" tIns="0" rIns="0" bIns="0" rtlCol="0" anchor="t"/>
          <a:lstStyle/>
          <a:p>
            <a:pPr indent="0" marL="0">
              <a:spcAft>
                <a:spcPts val="400"/>
              </a:spcAft>
              <a:buNone/>
            </a:pPr>
            <a:r>
              <a:rPr lang="en-US" sz="1600" dirty="0">
                <a:solidFill>
                  <a:srgbClr val="1F3A4D"/>
                </a:solidFill>
                <a:latin typeface="Cambria" pitchFamily="34" charset="0"/>
                <a:ea typeface="Cambria" pitchFamily="34" charset="-122"/>
                <a:cs typeface="Cambria" pitchFamily="34" charset="-120"/>
              </a:rPr>
              <a:t>How to read it</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Colour: Δt* predicted by the formula. White line: Δt* = 1.</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Inside the line, waiting between rounds pays; outside, run back to back.</a:t>
            </a:r>
            <a:endParaRPr lang="en-US" sz="1200" dirty="0"/>
          </a:p>
          <a:p>
            <a:pPr indent="0" marL="0">
              <a:spcAft>
                <a:spcPts val="400"/>
              </a:spcAft>
              <a:buNone/>
            </a:pPr>
            <a:r>
              <a:rPr lang="en-US" sz="1200" dirty="0">
                <a:solidFill>
                  <a:srgbClr val="17212B"/>
                </a:solidFill>
                <a:latin typeface="Calibri" pitchFamily="34" charset="0"/>
                <a:ea typeface="Calibri" pitchFamily="34" charset="-122"/>
                <a:cs typeface="Calibri" pitchFamily="34" charset="-120"/>
              </a:rPr>
              <a:t>Pale region: no simulation there, formula extrapolated.</a:t>
            </a:r>
            <a:endParaRPr lang="en-US" sz="1200" dirty="0"/>
          </a:p>
        </p:txBody>
      </p:sp>
      <p:sp>
        <p:nvSpPr>
          <p:cNvPr id="9" name="Text 6"/>
          <p:cNvSpPr txBox="1"/>
          <p:nvPr/>
        </p:nvSpPr>
        <p:spPr>
          <a:xfrm>
            <a:off x="8458200" y="3657600"/>
            <a:ext cx="3291840" cy="731520"/>
          </a:xfrm>
          <a:prstGeom prst="rect">
            <a:avLst/>
          </a:prstGeom>
          <a:noFill/>
          <a:ln/>
        </p:spPr>
        <p:txBody>
          <a:bodyPr wrap="square" lIns="0" tIns="0" rIns="0" bIns="0" rtlCol="0" anchor="ctr"/>
          <a:lstStyle/>
          <a:p>
            <a:pPr indent="0" marL="0">
              <a:buNone/>
            </a:pPr>
            <a:r>
              <a:rPr lang="en-US" sz="3200" dirty="0">
                <a:solidFill>
                  <a:srgbClr val="1A9E77"/>
                </a:solidFill>
                <a:latin typeface="Cambria" pitchFamily="34" charset="0"/>
                <a:ea typeface="Cambria" pitchFamily="34" charset="-122"/>
                <a:cs typeface="Cambria" pitchFamily="34" charset="-120"/>
              </a:rPr>
              <a:t>≈ 5%</a:t>
            </a:r>
            <a:endParaRPr lang="en-US" sz="4000" dirty="0"/>
          </a:p>
        </p:txBody>
      </p:sp>
      <p:sp>
        <p:nvSpPr>
          <p:cNvPr id="10" name="Text 7"/>
          <p:cNvSpPr txBox="1"/>
          <p:nvPr/>
        </p:nvSpPr>
        <p:spPr>
          <a:xfrm>
            <a:off x="8458200" y="4389120"/>
            <a:ext cx="3291840" cy="50292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formula vs simulation at the held-out mixed point (star): 5.39 vs 5.10 at d = 3.</a:t>
            </a:r>
            <a:endParaRPr lang="en-US" sz="1200" dirty="0"/>
          </a:p>
        </p:txBody>
      </p:sp>
      <p:sp>
        <p:nvSpPr>
          <p:cNvPr id="11" name="Text 8"/>
          <p:cNvSpPr txBox="1"/>
          <p:nvPr/>
        </p:nvSpPr>
        <p:spPr>
          <a:xfrm>
            <a:off x="457200" y="4892040"/>
            <a:ext cx="7818120" cy="365760"/>
          </a:xfrm>
          <a:prstGeom prst="rect">
            <a:avLst/>
          </a:prstGeom>
          <a:noFill/>
          <a:ln/>
        </p:spPr>
        <p:txBody>
          <a:bodyPr wrap="square" lIns="0" tIns="0" rIns="0" bIns="0" rtlCol="0" anchor="ctr"/>
          <a:lstStyle/>
          <a:p>
            <a:pPr indent="0" marL="0">
              <a:buNone/>
            </a:pPr>
            <a:r>
              <a:rPr lang="en-US" sz="1200" dirty="0">
                <a:solidFill>
                  <a:srgbClr val="5B6770"/>
                </a:solidFill>
                <a:latin typeface="Calibri" pitchFamily="34" charset="0"/>
                <a:ea typeface="Calibri" pitchFamily="34" charset="-122"/>
                <a:cs typeface="Calibri" pitchFamily="34" charset="-120"/>
              </a:rPr>
              <a:t>Markers: simulations (triangles, star) and two rough H2 estimates (squares). Panels: d = 3, 5, 7.</a:t>
            </a:r>
            <a:endParaRPr lang="en-US" sz="1200" dirty="0"/>
          </a:p>
        </p:txBody>
      </p:sp>
      <p:sp>
        <p:nvSpPr>
          <p:cNvPr id="13" name="Shape 10"/>
          <p:cNvSpPr/>
          <p:nvPr/>
        </p:nvSpPr>
        <p:spPr>
          <a:xfrm>
            <a:off x="457200" y="5833872"/>
            <a:ext cx="11277295" cy="658368"/>
          </a:xfrm>
          <a:prstGeom prst="roundRect">
            <a:avLst>
              <a:gd name="adj" fmla="val 11111"/>
            </a:avLst>
          </a:prstGeom>
          <a:solidFill>
            <a:srgbClr val="E6F4EF"/>
          </a:solidFill>
          <a:ln w="12700">
            <a:solidFill>
              <a:srgbClr val="E6F4EF"/>
            </a:solidFill>
            <a:prstDash val="solid"/>
          </a:ln>
        </p:spPr>
      </p:sp>
      <p:sp>
        <p:nvSpPr>
          <p:cNvPr id="14" name="Text 11"/>
          <p:cNvSpPr txBox="1"/>
          <p:nvPr/>
        </p:nvSpPr>
        <p:spPr>
          <a:xfrm>
            <a:off x="685800" y="5833872"/>
            <a:ext cx="10820095" cy="658368"/>
          </a:xfrm>
          <a:prstGeom prst="rect">
            <a:avLst/>
          </a:prstGeom>
          <a:noFill/>
          <a:ln/>
        </p:spPr>
        <p:txBody>
          <a:bodyPr wrap="square" lIns="0" tIns="0" rIns="0" bIns="0" rtlCol="0" anchor="ctr"/>
          <a:lstStyle/>
          <a:p>
            <a:pPr indent="0" marL="0">
              <a:buNone/>
            </a:pPr>
            <a:r>
              <a:rPr lang="en-US" sz="1400" b="1" dirty="0">
                <a:solidFill>
                  <a:srgbClr val="1A9E77"/>
                </a:solidFill>
                <a:latin typeface="Calibri" pitchFamily="34" charset="0"/>
                <a:ea typeface="Calibri" pitchFamily="34" charset="-122"/>
                <a:cs typeface="Calibri" pitchFamily="34" charset="-120"/>
              </a:rPr>
              <a:t xml:space="preserve">Reading:  </a:t>
            </a:r>
            <a:r>
              <a:rPr lang="en-US" sz="1400" dirty="0">
                <a:solidFill>
                  <a:srgbClr val="17212B"/>
                </a:solidFill>
                <a:latin typeface="Calibri" pitchFamily="34" charset="0"/>
                <a:ea typeface="Calibri" pitchFamily="34" charset="-122"/>
                <a:cs typeface="Calibri" pitchFamily="34" charset="-120"/>
              </a:rPr>
              <a:t>the H2 squares sit near the Δt* = 1 line but outside the simulated range. The next slide simulates them directly.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noise_qec: syndrome-interval arc</dc:title>
  <dc:subject>PptxGenJS Presentation</dc:subject>
  <dc:creator>PptxGenJS</dc:creator>
  <cp:lastModifiedBy>PptxGenJS</cp:lastModifiedBy>
  <cp:revision>1</cp:revision>
  <dcterms:created xsi:type="dcterms:W3CDTF">2026-09-30T06:45:51Z</dcterms:created>
  <dcterms:modified xsi:type="dcterms:W3CDTF">2026-09-30T06:45:51Z</dcterms:modified>
</cp:coreProperties>
</file>